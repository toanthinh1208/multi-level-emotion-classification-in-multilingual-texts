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70" r:id="rId1"/>
  </p:sldMasterIdLst>
  <p:notesMasterIdLst>
    <p:notesMasterId r:id="rId20"/>
  </p:notesMasterIdLst>
  <p:sldIdLst>
    <p:sldId id="268" r:id="rId2"/>
    <p:sldId id="256" r:id="rId3"/>
    <p:sldId id="257" r:id="rId4"/>
    <p:sldId id="272" r:id="rId5"/>
    <p:sldId id="258" r:id="rId6"/>
    <p:sldId id="259" r:id="rId7"/>
    <p:sldId id="260" r:id="rId8"/>
    <p:sldId id="261" r:id="rId9"/>
    <p:sldId id="266" r:id="rId10"/>
    <p:sldId id="267" r:id="rId11"/>
    <p:sldId id="271" r:id="rId12"/>
    <p:sldId id="262" r:id="rId13"/>
    <p:sldId id="269" r:id="rId14"/>
    <p:sldId id="270" r:id="rId15"/>
    <p:sldId id="273" r:id="rId16"/>
    <p:sldId id="263" r:id="rId17"/>
    <p:sldId id="264" r:id="rId18"/>
    <p:sldId id="265" r:id="rId19"/>
  </p:sldIdLst>
  <p:sldSz cx="14630400" cy="8229600"/>
  <p:notesSz cx="8229600" cy="14630400"/>
  <p:embeddedFontLst>
    <p:embeddedFont>
      <p:font typeface="Kanit" panose="020B0604020202020204" charset="-34"/>
      <p:regular r:id="rId21"/>
    </p:embeddedFont>
    <p:embeddedFont>
      <p:font typeface="Martel Sans Light" panose="020B0604020202020204" charset="0"/>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76" autoAdjust="0"/>
    <p:restoredTop sz="94454" autoAdjust="0"/>
  </p:normalViewPr>
  <p:slideViewPr>
    <p:cSldViewPr snapToGrid="0" snapToObjects="1">
      <p:cViewPr varScale="1">
        <p:scale>
          <a:sx n="56" d="100"/>
          <a:sy n="56" d="100"/>
        </p:scale>
        <p:origin x="63" y="51"/>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364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0791B-0ABA-19F7-4B2A-A91D434C9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5DDF1-9C2D-6559-DC21-A0AE81518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98018-BD68-0526-194C-1C3CAED0E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2D7A67-F067-7CD6-90B3-ED46CB20F000}"/>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92311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A37ED-D10F-23B3-A007-A9F388F29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4C408-A016-3F83-D418-77A24492D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2C9FC-791E-723F-9E17-4789C5E0DD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FD3377-513B-CC40-EAFC-5DEF59779C07}"/>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594784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86863-D383-2F62-4E42-118ED2786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01471-2B1E-99D4-4DDE-8ED159086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9B8C7-C26A-5C65-CDD1-BCB697B95A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0B1D4B-9F46-F076-F80D-30B80C90EBB2}"/>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959210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316736" y="910742"/>
            <a:ext cx="12070080" cy="4279392"/>
          </a:xfrm>
        </p:spPr>
        <p:txBody>
          <a:bodyPr anchor="b">
            <a:normAutofit/>
          </a:bodyPr>
          <a:lstStyle>
            <a:lvl1pPr algn="l">
              <a:lnSpc>
                <a:spcPct val="85000"/>
              </a:lnSpc>
              <a:defRPr sz="9600" spc="-6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20061" y="5346744"/>
            <a:ext cx="12070080" cy="1371600"/>
          </a:xfrm>
        </p:spPr>
        <p:txBody>
          <a:bodyPr lIns="91440" rIns="91440">
            <a:normAutofit/>
          </a:bodyPr>
          <a:lstStyle>
            <a:lvl1pPr marL="0" indent="0" algn="l">
              <a:buNone/>
              <a:defRPr sz="2880" cap="all" spc="240" baseline="0">
                <a:solidFill>
                  <a:schemeClr val="tx2"/>
                </a:solidFill>
                <a:latin typeface="+mj-lt"/>
              </a:defRPr>
            </a:lvl1pPr>
            <a:lvl2pPr marL="548640" indent="0" algn="ctr">
              <a:buNone/>
              <a:defRPr sz="2880"/>
            </a:lvl2pPr>
            <a:lvl3pPr marL="1097280" indent="0" algn="ctr">
              <a:buNone/>
              <a:defRPr sz="2880"/>
            </a:lvl3pPr>
            <a:lvl4pPr marL="1645920" indent="0" algn="ctr">
              <a:buNone/>
              <a:defRPr sz="2400"/>
            </a:lvl4pPr>
            <a:lvl5pPr marL="2194560" indent="0" algn="ctr">
              <a:buNone/>
              <a:defRPr sz="2400"/>
            </a:lvl5pPr>
            <a:lvl6pPr marL="2743200" indent="0" algn="ctr">
              <a:buNone/>
              <a:defRPr sz="2400"/>
            </a:lvl6pPr>
            <a:lvl7pPr marL="3291840" indent="0" algn="ctr">
              <a:buNone/>
              <a:defRPr sz="2400"/>
            </a:lvl7pPr>
            <a:lvl8pPr marL="3840480" indent="0" algn="ctr">
              <a:buNone/>
              <a:defRPr sz="2400"/>
            </a:lvl8pPr>
            <a:lvl9pPr marL="438912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21D8A9-B864-40CD-B42A-E95DD75B7ED4}" type="slidenum">
              <a:rPr lang="en-US" smtClean="0"/>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1141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26018995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910742"/>
            <a:ext cx="12070080" cy="4279392"/>
          </a:xfrm>
        </p:spPr>
        <p:txBody>
          <a:bodyPr anchor="b" anchorCtr="0">
            <a:normAutofit/>
          </a:bodyPr>
          <a:lstStyle>
            <a:lvl1pPr>
              <a:lnSpc>
                <a:spcPct val="85000"/>
              </a:lnSpc>
              <a:defRPr sz="9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16736" y="5343754"/>
            <a:ext cx="12070080" cy="1371600"/>
          </a:xfrm>
        </p:spPr>
        <p:txBody>
          <a:bodyPr lIns="91440" rIns="91440" anchor="t" anchorCtr="0">
            <a:normAutofit/>
          </a:bodyPr>
          <a:lstStyle>
            <a:lvl1pPr marL="0" indent="0">
              <a:buNone/>
              <a:defRPr sz="2880" cap="all" spc="240" baseline="0">
                <a:solidFill>
                  <a:schemeClr val="tx2"/>
                </a:solidFill>
                <a:latin typeface="+mj-lt"/>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21D8A9-B864-40CD-B42A-E95DD75B7ED4}" type="slidenum">
              <a:rPr lang="en-US" smtClean="0"/>
              <a:t>‹#›</a:t>
            </a:fld>
            <a:endParaRPr lang="en-US" dirty="0"/>
          </a:p>
        </p:txBody>
      </p:sp>
      <p:cxnSp>
        <p:nvCxnSpPr>
          <p:cNvPr id="9" name="Straight Connector 8"/>
          <p:cNvCxnSpPr/>
          <p:nvPr/>
        </p:nvCxnSpPr>
        <p:spPr>
          <a:xfrm>
            <a:off x="1449190"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34181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16735" y="2214881"/>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61504" y="2214882"/>
            <a:ext cx="5925312"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91486051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316736" y="343924"/>
            <a:ext cx="12070080" cy="17409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16736"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16736"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61504" y="2215263"/>
            <a:ext cx="5925312" cy="883538"/>
          </a:xfrm>
        </p:spPr>
        <p:txBody>
          <a:bodyPr lIns="91440" rIns="91440" anchor="ctr">
            <a:normAutofit/>
          </a:bodyPr>
          <a:lstStyle>
            <a:lvl1pPr marL="0" indent="0">
              <a:buNone/>
              <a:defRPr sz="2400" b="0" cap="all" baseline="0">
                <a:solidFill>
                  <a:schemeClr val="tx2"/>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61504" y="3098801"/>
            <a:ext cx="5925312" cy="4053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7608779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14617533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174197352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0" y="0"/>
            <a:ext cx="4860949" cy="822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848085" y="0"/>
            <a:ext cx="7681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713231"/>
            <a:ext cx="3840480" cy="2743200"/>
          </a:xfrm>
        </p:spPr>
        <p:txBody>
          <a:bodyPr anchor="b">
            <a:normAutofit/>
          </a:bodyPr>
          <a:lstStyle>
            <a:lvl1pPr>
              <a:defRPr sz="43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60720" y="877824"/>
            <a:ext cx="7790688" cy="6309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8640" y="3511296"/>
            <a:ext cx="3840480" cy="4054949"/>
          </a:xfrm>
        </p:spPr>
        <p:txBody>
          <a:bodyPr lIns="91440" rIns="91440">
            <a:normAutofit/>
          </a:bodyPr>
          <a:lstStyle>
            <a:lvl1pPr marL="0" indent="0">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a:xfrm>
            <a:off x="558614" y="7751743"/>
            <a:ext cx="3142212" cy="438150"/>
          </a:xfrm>
        </p:spPr>
        <p:txBody>
          <a:bodyPr/>
          <a:lstStyle>
            <a:lvl1pPr algn="l">
              <a:defRPr/>
            </a:lvl1pPr>
          </a:lstStyle>
          <a:p>
            <a:fld id="{0F8324CF-F7E5-42E5-8890-9DDC18ACACBA}" type="datetimeFigureOut">
              <a:rPr lang="en-US" smtClean="0"/>
              <a:t>4/13/2025</a:t>
            </a:fld>
            <a:endParaRPr lang="en-US" dirty="0"/>
          </a:p>
        </p:txBody>
      </p:sp>
      <p:sp>
        <p:nvSpPr>
          <p:cNvPr id="6" name="Footer Placeholder 5"/>
          <p:cNvSpPr>
            <a:spLocks noGrp="1"/>
          </p:cNvSpPr>
          <p:nvPr>
            <p:ph type="ftr" sz="quarter" idx="11"/>
          </p:nvPr>
        </p:nvSpPr>
        <p:spPr>
          <a:xfrm>
            <a:off x="5760720" y="7751743"/>
            <a:ext cx="5577840" cy="438150"/>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721D8A9-B864-40CD-B42A-E95DD75B7ED4}" type="slidenum">
              <a:rPr lang="en-US" smtClean="0"/>
              <a:t>‹#›</a:t>
            </a:fld>
            <a:endParaRPr lang="en-US" dirty="0"/>
          </a:p>
        </p:txBody>
      </p:sp>
    </p:spTree>
    <p:extLst>
      <p:ext uri="{BB962C8B-B14F-4D97-AF65-F5344CB8AC3E}">
        <p14:creationId xmlns:p14="http://schemas.microsoft.com/office/powerpoint/2010/main" val="20659157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943600"/>
            <a:ext cx="1462659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9" y="5898091"/>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316736" y="6089904"/>
            <a:ext cx="12135917" cy="987552"/>
          </a:xfrm>
        </p:spPr>
        <p:txBody>
          <a:bodyPr lIns="91440" tIns="0" rIns="91440" bIns="0" anchor="b">
            <a:noAutofit/>
          </a:bodyPr>
          <a:lstStyle>
            <a:lvl1pPr>
              <a:defRPr sz="432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9" y="0"/>
            <a:ext cx="14630382" cy="5898091"/>
          </a:xfrm>
          <a:blipFill>
            <a:blip r:embed="rId2"/>
            <a:stretch>
              <a:fillRect/>
            </a:stretch>
          </a:blipFill>
        </p:spPr>
        <p:txBody>
          <a:bodyPr lIns="457200" tIns="457200" anchor="t"/>
          <a:lstStyle>
            <a:lvl1pPr marL="0" indent="0">
              <a:buNone/>
              <a:defRPr sz="3840">
                <a:solidFill>
                  <a:schemeClr val="bg1"/>
                </a:solidFill>
              </a:defRPr>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16736" y="7088428"/>
            <a:ext cx="12135917" cy="713232"/>
          </a:xfrm>
        </p:spPr>
        <p:txBody>
          <a:bodyPr lIns="91440" tIns="0" rIns="91440" bIns="0">
            <a:normAutofit/>
          </a:bodyPr>
          <a:lstStyle>
            <a:lvl1pPr marL="0" indent="0">
              <a:spcBef>
                <a:spcPts val="0"/>
              </a:spcBef>
              <a:spcAft>
                <a:spcPts val="720"/>
              </a:spcAft>
              <a:buNone/>
              <a:defRPr sz="1800">
                <a:solidFill>
                  <a:srgbClr val="FFFFFF"/>
                </a:solidFill>
              </a:defRPr>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26688856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241382712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811"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9" y="7601179"/>
            <a:ext cx="14626590"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469880" y="497734"/>
            <a:ext cx="3154680" cy="69089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97734"/>
            <a:ext cx="9281160" cy="6908906"/>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8324CF-F7E5-42E5-8890-9DDC18ACACBA}" type="datetimeFigureOut">
              <a:rPr lang="en-US" smtClean="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721D8A9-B864-40CD-B42A-E95DD75B7ED4}" type="slidenum">
              <a:rPr lang="en-US" smtClean="0"/>
              <a:t>‹#›</a:t>
            </a:fld>
            <a:endParaRPr lang="en-US" dirty="0"/>
          </a:p>
        </p:txBody>
      </p:sp>
    </p:spTree>
    <p:extLst>
      <p:ext uri="{BB962C8B-B14F-4D97-AF65-F5344CB8AC3E}">
        <p14:creationId xmlns:p14="http://schemas.microsoft.com/office/powerpoint/2010/main" val="14884369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6745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426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1924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5377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2757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1276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6898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34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1831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7601179"/>
            <a:ext cx="14630401" cy="79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16736" y="343924"/>
            <a:ext cx="12070080" cy="17409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16736" y="2214881"/>
            <a:ext cx="12070080" cy="482803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16737" y="7751743"/>
            <a:ext cx="2966725" cy="438150"/>
          </a:xfrm>
          <a:prstGeom prst="rect">
            <a:avLst/>
          </a:prstGeom>
        </p:spPr>
        <p:txBody>
          <a:bodyPr vert="horz" lIns="91440" tIns="45720" rIns="91440" bIns="45720" rtlCol="0" anchor="ctr"/>
          <a:lstStyle>
            <a:lvl1pPr algn="l">
              <a:defRPr sz="1080">
                <a:solidFill>
                  <a:srgbClr val="FFFFFF"/>
                </a:solidFill>
              </a:defRPr>
            </a:lvl1pPr>
          </a:lstStyle>
          <a:p>
            <a:fld id="{0F8324CF-F7E5-42E5-8890-9DDC18ACACBA}" type="datetimeFigureOut">
              <a:rPr lang="en-US" smtClean="0"/>
              <a:t>4/13/2025</a:t>
            </a:fld>
            <a:endParaRPr lang="en-US" dirty="0"/>
          </a:p>
        </p:txBody>
      </p:sp>
      <p:sp>
        <p:nvSpPr>
          <p:cNvPr id="5" name="Footer Placeholder 4"/>
          <p:cNvSpPr>
            <a:spLocks noGrp="1"/>
          </p:cNvSpPr>
          <p:nvPr>
            <p:ph type="ftr" sz="quarter" idx="3"/>
          </p:nvPr>
        </p:nvSpPr>
        <p:spPr>
          <a:xfrm>
            <a:off x="4423422" y="7751743"/>
            <a:ext cx="5787365" cy="438150"/>
          </a:xfrm>
          <a:prstGeom prst="rect">
            <a:avLst/>
          </a:prstGeom>
        </p:spPr>
        <p:txBody>
          <a:bodyPr vert="horz" lIns="91440" tIns="45720" rIns="91440" bIns="45720" rtlCol="0" anchor="ctr"/>
          <a:lstStyle>
            <a:lvl1pPr algn="ctr">
              <a:defRPr sz="108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1880550" y="7751743"/>
            <a:ext cx="1574430" cy="438150"/>
          </a:xfrm>
          <a:prstGeom prst="rect">
            <a:avLst/>
          </a:prstGeom>
        </p:spPr>
        <p:txBody>
          <a:bodyPr vert="horz" lIns="91440" tIns="45720" rIns="91440" bIns="45720" rtlCol="0" anchor="ctr"/>
          <a:lstStyle>
            <a:lvl1pPr algn="r">
              <a:defRPr sz="1260">
                <a:solidFill>
                  <a:srgbClr val="FFFFFF"/>
                </a:solidFill>
              </a:defRPr>
            </a:lvl1pPr>
          </a:lstStyle>
          <a:p>
            <a:fld id="{A721D8A9-B864-40CD-B42A-E95DD75B7ED4}" type="slidenum">
              <a:rPr lang="en-US" smtClean="0"/>
              <a:t>‹#›</a:t>
            </a:fld>
            <a:endParaRPr lang="en-US" dirty="0"/>
          </a:p>
        </p:txBody>
      </p:sp>
      <p:cxnSp>
        <p:nvCxnSpPr>
          <p:cNvPr id="10" name="Straight Connector 9"/>
          <p:cNvCxnSpPr/>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898709"/>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Lst>
  <p:hf sldNum="0" hdr="0" ftr="0" dt="0"/>
  <p:txStyles>
    <p:titleStyle>
      <a:lvl1pPr algn="l" defTabSz="1097280" rtl="0" eaLnBrk="1" latinLnBrk="0" hangingPunct="1">
        <a:lnSpc>
          <a:spcPct val="85000"/>
        </a:lnSpc>
        <a:spcBef>
          <a:spcPct val="0"/>
        </a:spcBef>
        <a:buNone/>
        <a:defRPr sz="5760" kern="1200" spc="-60" baseline="0">
          <a:solidFill>
            <a:schemeClr val="tx1">
              <a:lumMod val="75000"/>
              <a:lumOff val="2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460858" indent="-219456" algn="l" defTabSz="1097280" rtl="0" eaLnBrk="1" latinLnBrk="0" hangingPunct="1">
        <a:lnSpc>
          <a:spcPct val="90000"/>
        </a:lnSpc>
        <a:spcBef>
          <a:spcPts val="240"/>
        </a:spcBef>
        <a:spcAft>
          <a:spcPts val="480"/>
        </a:spcAft>
        <a:buClr>
          <a:schemeClr val="accent1"/>
        </a:buClr>
        <a:buFont typeface="Calibri" pitchFamily="34" charset="0"/>
        <a:buChar char="◦"/>
        <a:defRPr sz="2160" kern="1200">
          <a:solidFill>
            <a:schemeClr val="tx1">
              <a:lumMod val="75000"/>
              <a:lumOff val="25000"/>
            </a:schemeClr>
          </a:solidFill>
          <a:latin typeface="+mn-lt"/>
          <a:ea typeface="+mn-ea"/>
          <a:cs typeface="+mn-cs"/>
        </a:defRPr>
      </a:lvl2pPr>
      <a:lvl3pPr marL="680314"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3pPr>
      <a:lvl4pPr marL="899770"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4pPr>
      <a:lvl5pPr marL="1119226" indent="-219456"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5pPr>
      <a:lvl6pPr marL="132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6pPr>
      <a:lvl7pPr marL="156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7pPr>
      <a:lvl8pPr marL="180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8pPr>
      <a:lvl9pPr marL="2040000" indent="-274320" algn="l" defTabSz="1097280" rtl="0" eaLnBrk="1" latinLnBrk="0" hangingPunct="1">
        <a:lnSpc>
          <a:spcPct val="90000"/>
        </a:lnSpc>
        <a:spcBef>
          <a:spcPts val="240"/>
        </a:spcBef>
        <a:spcAft>
          <a:spcPts val="480"/>
        </a:spcAft>
        <a:buClr>
          <a:schemeClr val="accent1"/>
        </a:buClr>
        <a:buFont typeface="Calibri" pitchFamily="34" charset="0"/>
        <a:buChar char="◦"/>
        <a:defRPr sz="1680" kern="1200">
          <a:solidFill>
            <a:schemeClr val="tx1">
              <a:lumMod val="75000"/>
              <a:lumOff val="25000"/>
            </a:schemeClr>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26590"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9189"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1"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9A474B-2AAB-7340-37CC-ED0AB3E604C6}"/>
              </a:ext>
            </a:extLst>
          </p:cNvPr>
          <p:cNvSpPr>
            <a:spLocks noGrp="1"/>
          </p:cNvSpPr>
          <p:nvPr>
            <p:ph type="title"/>
          </p:nvPr>
        </p:nvSpPr>
        <p:spPr>
          <a:xfrm>
            <a:off x="8076000" y="766916"/>
            <a:ext cx="5775686" cy="4423218"/>
          </a:xfrm>
        </p:spPr>
        <p:txBody>
          <a:bodyPr vert="horz" lIns="91440" tIns="45720" rIns="91440" bIns="45720" rtlCol="0" anchor="b">
            <a:normAutofit/>
          </a:bodyPr>
          <a:lstStyle/>
          <a:p>
            <a:pPr defTabSz="914400"/>
            <a:r>
              <a:rPr lang="en-US" sz="5000" spc="-50"/>
              <a:t>Multilingual Emotion Classification via Star-Based Product Review Analysis</a:t>
            </a:r>
            <a:br>
              <a:rPr lang="en-US" sz="5000" spc="-50"/>
            </a:br>
            <a:endParaRPr lang="en-US" sz="5000" spc="-50"/>
          </a:p>
        </p:txBody>
      </p:sp>
      <p:sp>
        <p:nvSpPr>
          <p:cNvPr id="3" name="Text Placeholder 2">
            <a:extLst>
              <a:ext uri="{FF2B5EF4-FFF2-40B4-BE49-F238E27FC236}">
                <a16:creationId xmlns:a16="http://schemas.microsoft.com/office/drawing/2014/main" id="{5BD75168-C2C4-5C3E-B1DD-836A5D97E63E}"/>
              </a:ext>
            </a:extLst>
          </p:cNvPr>
          <p:cNvSpPr>
            <a:spLocks noGrp="1"/>
          </p:cNvSpPr>
          <p:nvPr>
            <p:ph type="body" idx="1"/>
          </p:nvPr>
        </p:nvSpPr>
        <p:spPr>
          <a:xfrm>
            <a:off x="8075998" y="5346745"/>
            <a:ext cx="5794922" cy="1486339"/>
          </a:xfrm>
        </p:spPr>
        <p:txBody>
          <a:bodyPr vert="horz" lIns="91440" tIns="45720" rIns="91440" bIns="45720" rtlCol="0">
            <a:normAutofit/>
          </a:bodyPr>
          <a:lstStyle/>
          <a:p>
            <a:pPr defTabSz="914400">
              <a:spcBef>
                <a:spcPts val="1200"/>
              </a:spcBef>
              <a:spcAft>
                <a:spcPts val="200"/>
              </a:spcAft>
            </a:pPr>
            <a:r>
              <a:rPr lang="en-US" sz="2400" spc="200">
                <a:solidFill>
                  <a:schemeClr val="tx1">
                    <a:lumMod val="85000"/>
                    <a:lumOff val="15000"/>
                  </a:schemeClr>
                </a:solidFill>
              </a:rPr>
              <a:t>Nguyen thanh toan thinh</a:t>
            </a:r>
          </a:p>
        </p:txBody>
      </p:sp>
      <p:pic>
        <p:nvPicPr>
          <p:cNvPr id="5" name="Picture 4" descr="Hand placing stars">
            <a:extLst>
              <a:ext uri="{FF2B5EF4-FFF2-40B4-BE49-F238E27FC236}">
                <a16:creationId xmlns:a16="http://schemas.microsoft.com/office/drawing/2014/main" id="{25A8C260-CC9F-4E5E-7F99-6516309D42C1}"/>
              </a:ext>
            </a:extLst>
          </p:cNvPr>
          <p:cNvPicPr>
            <a:picLocks noChangeAspect="1"/>
          </p:cNvPicPr>
          <p:nvPr/>
        </p:nvPicPr>
        <p:blipFill>
          <a:blip r:embed="rId2"/>
          <a:srcRect l="32921" r="7744" b="-1"/>
          <a:stretch/>
        </p:blipFill>
        <p:spPr>
          <a:xfrm>
            <a:off x="1" y="10"/>
            <a:ext cx="7315200" cy="8229590"/>
          </a:xfrm>
          <a:prstGeom prst="rect">
            <a:avLst/>
          </a:prstGeom>
        </p:spPr>
      </p:pic>
      <p:cxnSp>
        <p:nvCxnSpPr>
          <p:cNvPr id="17" name="Straight Connector 16">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66063" y="5212080"/>
            <a:ext cx="5266944"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585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071" y="565666"/>
            <a:ext cx="6931104" cy="2000964"/>
          </a:xfrm>
          <a:prstGeom prst="rect">
            <a:avLst/>
          </a:prstGeom>
          <a:noFill/>
          <a:ln/>
        </p:spPr>
        <p:txBody>
          <a:bodyPr wrap="square" lIns="0" tIns="0" rIns="0" bIns="0" rtlCol="0" anchor="t"/>
          <a:lstStyle/>
          <a:p>
            <a:pPr marL="0" indent="0" algn="l">
              <a:lnSpc>
                <a:spcPts val="5250"/>
              </a:lnSpc>
              <a:buNone/>
            </a:pPr>
            <a:r>
              <a:rPr lang="en-US" sz="3000" dirty="0">
                <a:latin typeface="Kanit" pitchFamily="34" charset="0"/>
                <a:ea typeface="Kanit" pitchFamily="34" charset="-122"/>
                <a:cs typeface="Kanit" pitchFamily="34" charset="-120"/>
              </a:rPr>
              <a:t>Multilingual Emotion Classification via Star-Based Product Review Analysis</a:t>
            </a:r>
            <a:endParaRPr lang="en-US" sz="3000" dirty="0"/>
          </a:p>
        </p:txBody>
      </p:sp>
      <p:sp>
        <p:nvSpPr>
          <p:cNvPr id="4" name="Text 1"/>
          <p:cNvSpPr/>
          <p:nvPr/>
        </p:nvSpPr>
        <p:spPr>
          <a:xfrm>
            <a:off x="6280071" y="3144917"/>
            <a:ext cx="7556659" cy="3629025"/>
          </a:xfrm>
          <a:prstGeom prst="rect">
            <a:avLst/>
          </a:prstGeom>
          <a:noFill/>
          <a:ln/>
        </p:spPr>
        <p:txBody>
          <a:bodyPr wrap="square" lIns="0" tIns="0" rIns="0" bIns="0" rtlCol="0" anchor="t"/>
          <a:lstStyle/>
          <a:p>
            <a:pPr marL="0" indent="0" algn="l">
              <a:lnSpc>
                <a:spcPts val="2850"/>
              </a:lnSpc>
              <a:buNone/>
            </a:pPr>
            <a:r>
              <a:rPr lang="en-US" sz="1750" dirty="0">
                <a:latin typeface="Martel Sans Light" pitchFamily="34" charset="0"/>
                <a:ea typeface="Martel Sans Light" pitchFamily="34" charset="-122"/>
                <a:cs typeface="Martel Sans Light" pitchFamily="34" charset="-120"/>
              </a:rPr>
              <a:t> In e-commerce, star ratings are crucial for product reputation, but may not always reflect true customer sentiment. This study introduces emotional intensity classification models based on customer product ratings (1-5 stars), combining Vietnamese and English reviews for a more accurate perspective. Traditional machine learning models (Naive Bayes, SVM, XGBoost) and the mBERT deep learning model were compared using a Kaggle dataset. Results showed SVM achieved 77-78% accuracy, while mBERT better classified 3 and 4-star reviews. Both models were affected by imbalanced data, which the research aims to address in future optimizations.</a:t>
            </a:r>
            <a:endParaRPr lang="en-US" sz="1750" dirty="0"/>
          </a:p>
        </p:txBody>
      </p:sp>
      <p:pic>
        <p:nvPicPr>
          <p:cNvPr id="2052" name="Picture 4" descr="Customer feedback star rating symbol Royalty Free Vector">
            <a:extLst>
              <a:ext uri="{FF2B5EF4-FFF2-40B4-BE49-F238E27FC236}">
                <a16:creationId xmlns:a16="http://schemas.microsoft.com/office/drawing/2014/main" id="{FF227B03-0F41-7FBD-4698-FA02613734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060"/>
          <a:stretch/>
        </p:blipFill>
        <p:spPr bwMode="auto">
          <a:xfrm>
            <a:off x="0" y="0"/>
            <a:ext cx="5486400" cy="76485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5450" y="656034"/>
            <a:ext cx="13139499" cy="1252776"/>
          </a:xfrm>
          <a:prstGeom prst="rect">
            <a:avLst/>
          </a:prstGeom>
          <a:noFill/>
          <a:ln/>
        </p:spPr>
        <p:txBody>
          <a:bodyPr wrap="square" lIns="0" tIns="0" rIns="0" bIns="0" rtlCol="0" anchor="t"/>
          <a:lstStyle/>
          <a:p>
            <a:pPr marL="0" indent="0" algn="l">
              <a:lnSpc>
                <a:spcPts val="4900"/>
              </a:lnSpc>
              <a:buNone/>
            </a:pPr>
            <a:r>
              <a:rPr lang="en-US" sz="3900" dirty="0">
                <a:latin typeface="Kanit" pitchFamily="34" charset="0"/>
                <a:ea typeface="Kanit" pitchFamily="34" charset="-122"/>
                <a:cs typeface="Kanit" pitchFamily="34" charset="-120"/>
              </a:rPr>
              <a:t>Introduction: Bridging the Gap Between Ratings and Reality</a:t>
            </a:r>
            <a:endParaRPr lang="en-US" sz="3900" dirty="0"/>
          </a:p>
        </p:txBody>
      </p:sp>
      <p:sp>
        <p:nvSpPr>
          <p:cNvPr id="3" name="Text 1"/>
          <p:cNvSpPr/>
          <p:nvPr/>
        </p:nvSpPr>
        <p:spPr>
          <a:xfrm>
            <a:off x="745450" y="2419826"/>
            <a:ext cx="6309955" cy="2726055"/>
          </a:xfrm>
          <a:prstGeom prst="rect">
            <a:avLst/>
          </a:prstGeom>
          <a:noFill/>
          <a:ln/>
        </p:spPr>
        <p:txBody>
          <a:bodyPr wrap="square" lIns="0" tIns="0" rIns="0" bIns="0" rtlCol="0" anchor="t"/>
          <a:lstStyle/>
          <a:p>
            <a:pPr marL="0" indent="0" algn="l">
              <a:lnSpc>
                <a:spcPts val="2650"/>
              </a:lnSpc>
              <a:buNone/>
            </a:pPr>
            <a:r>
              <a:rPr lang="en-US" sz="1650" dirty="0">
                <a:latin typeface="Martel Sans Light" pitchFamily="34" charset="0"/>
                <a:ea typeface="Martel Sans Light" pitchFamily="34" charset="-122"/>
                <a:cs typeface="Martel Sans Light" pitchFamily="34" charset="-120"/>
              </a:rPr>
              <a:t>E-commerce users often rely on star ratings to assess product quality and store reputation. However, ratings can be misleading, with reviews like "The product is very bad" receiving five stars. This research aims to create a model that accurately identifies the emotional intensity of reviews, providing manufacturers with a clearer understanding of customer sentiment. This allows for better strategies to promote products and improve quality.</a:t>
            </a:r>
            <a:endParaRPr lang="en-US" sz="1650" dirty="0"/>
          </a:p>
        </p:txBody>
      </p:sp>
      <p:sp>
        <p:nvSpPr>
          <p:cNvPr id="4" name="Text 2"/>
          <p:cNvSpPr/>
          <p:nvPr/>
        </p:nvSpPr>
        <p:spPr>
          <a:xfrm>
            <a:off x="745450" y="5337453"/>
            <a:ext cx="6309955" cy="2044541"/>
          </a:xfrm>
          <a:prstGeom prst="rect">
            <a:avLst/>
          </a:prstGeom>
          <a:noFill/>
          <a:ln/>
        </p:spPr>
        <p:txBody>
          <a:bodyPr wrap="square" lIns="0" tIns="0" rIns="0" bIns="0" rtlCol="0" anchor="t"/>
          <a:lstStyle/>
          <a:p>
            <a:pPr>
              <a:lnSpc>
                <a:spcPts val="2650"/>
              </a:lnSpc>
            </a:pPr>
            <a:r>
              <a:rPr lang="en-US" sz="1650" dirty="0">
                <a:latin typeface="Martel Sans Light" pitchFamily="34" charset="0"/>
                <a:cs typeface="Martel Sans Light" pitchFamily="34" charset="-120"/>
              </a:rPr>
              <a:t>Star ratings reflect varying emotions—five shows satisfaction, three is neutral, and one signals strong dissatisfaction. Accurate interpretation is key to understanding customer feedback.</a:t>
            </a:r>
          </a:p>
        </p:txBody>
      </p:sp>
      <p:pic>
        <p:nvPicPr>
          <p:cNvPr id="5" name="Image 0" descr="preencoded.png"/>
          <p:cNvPicPr>
            <a:picLocks noChangeAspect="1"/>
          </p:cNvPicPr>
          <p:nvPr/>
        </p:nvPicPr>
        <p:blipFill>
          <a:blip r:embed="rId3"/>
          <a:stretch>
            <a:fillRect/>
          </a:stretch>
        </p:blipFill>
        <p:spPr>
          <a:xfrm>
            <a:off x="7582614" y="2467808"/>
            <a:ext cx="6309955" cy="4317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01179"/>
            <a:ext cx="14630401" cy="79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32238" y="2085414"/>
            <a:ext cx="1196035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1" cy="7601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84BC64-20D4-4399-E6F8-20838C31357B}"/>
              </a:ext>
            </a:extLst>
          </p:cNvPr>
          <p:cNvSpPr>
            <a:spLocks noGrp="1"/>
          </p:cNvSpPr>
          <p:nvPr>
            <p:ph type="title"/>
          </p:nvPr>
        </p:nvSpPr>
        <p:spPr>
          <a:xfrm>
            <a:off x="7694022" y="761935"/>
            <a:ext cx="6152605" cy="1740908"/>
          </a:xfrm>
        </p:spPr>
        <p:txBody>
          <a:bodyPr vert="horz" lIns="91440" tIns="45720" rIns="91440" bIns="45720" rtlCol="0" anchor="b">
            <a:normAutofit/>
          </a:bodyPr>
          <a:lstStyle/>
          <a:p>
            <a:pPr defTabSz="914400"/>
            <a:r>
              <a:rPr lang="en-US" sz="4100" b="1" spc="-50"/>
              <a:t>Why Choose a 1–5 Star Rating Instead of Just Positive / Neutral / Negative?</a:t>
            </a:r>
          </a:p>
        </p:txBody>
      </p:sp>
      <p:pic>
        <p:nvPicPr>
          <p:cNvPr id="9" name="Picture 8" descr="A screenshot of a phone&#10;&#10;AI-generated content may be incorrect.">
            <a:extLst>
              <a:ext uri="{FF2B5EF4-FFF2-40B4-BE49-F238E27FC236}">
                <a16:creationId xmlns:a16="http://schemas.microsoft.com/office/drawing/2014/main" id="{23816B8D-31B7-E300-4B8F-F7F755857A78}"/>
              </a:ext>
            </a:extLst>
          </p:cNvPr>
          <p:cNvPicPr>
            <a:picLocks noChangeAspect="1"/>
          </p:cNvPicPr>
          <p:nvPr/>
        </p:nvPicPr>
        <p:blipFill>
          <a:blip r:embed="rId2"/>
          <a:stretch>
            <a:fillRect/>
          </a:stretch>
        </p:blipFill>
        <p:spPr>
          <a:xfrm>
            <a:off x="894158" y="774127"/>
            <a:ext cx="6297296" cy="6297296"/>
          </a:xfrm>
          <a:prstGeom prst="rect">
            <a:avLst/>
          </a:prstGeom>
        </p:spPr>
      </p:pic>
      <p:cxnSp>
        <p:nvCxnSpPr>
          <p:cNvPr id="22" name="Straight Connector 21">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94020" y="2503425"/>
            <a:ext cx="569857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5E7933E-C58E-C79D-7EB6-7CEFCCAA36AA}"/>
              </a:ext>
            </a:extLst>
          </p:cNvPr>
          <p:cNvSpPr txBox="1"/>
          <p:nvPr/>
        </p:nvSpPr>
        <p:spPr>
          <a:xfrm>
            <a:off x="7694020" y="2638696"/>
            <a:ext cx="6152607" cy="4404216"/>
          </a:xfrm>
          <a:prstGeom prst="rect">
            <a:avLst/>
          </a:prstGeom>
        </p:spPr>
        <p:txBody>
          <a:bodyPr vert="horz" lIns="0" tIns="45720" rIns="0" bIns="45720" rtlCol="0">
            <a:normAutofit/>
          </a:bodyPr>
          <a:lstStyle/>
          <a:p>
            <a:pPr marL="285750" indent="-285750" defTabSz="914400">
              <a:lnSpc>
                <a:spcPct val="90000"/>
              </a:lnSpc>
              <a:spcAft>
                <a:spcPts val="600"/>
              </a:spcAft>
              <a:buClr>
                <a:schemeClr val="accent1"/>
              </a:buClr>
              <a:buFont typeface="Calibri" panose="020F0502020204030204" pitchFamily="34" charset="0"/>
              <a:buChar char="•"/>
            </a:pPr>
            <a:r>
              <a:rPr lang="en-US" b="1">
                <a:solidFill>
                  <a:schemeClr val="tx1">
                    <a:lumMod val="75000"/>
                    <a:lumOff val="25000"/>
                  </a:schemeClr>
                </a:solidFill>
              </a:rPr>
              <a:t> More Detailed Feedback</a:t>
            </a:r>
            <a:br>
              <a:rPr lang="en-US">
                <a:solidFill>
                  <a:schemeClr val="tx1">
                    <a:lumMod val="75000"/>
                    <a:lumOff val="25000"/>
                  </a:schemeClr>
                </a:solidFill>
              </a:rPr>
            </a:br>
            <a:r>
              <a:rPr lang="en-US">
                <a:solidFill>
                  <a:schemeClr val="tx1">
                    <a:lumMod val="75000"/>
                    <a:lumOff val="25000"/>
                  </a:schemeClr>
                </a:solidFill>
              </a:rPr>
              <a:t>A 5-star scale captures how satisfied the user is—not just if they are happy or not.</a:t>
            </a:r>
          </a:p>
          <a:p>
            <a:pPr marL="285750" indent="-285750" defTabSz="914400">
              <a:lnSpc>
                <a:spcPct val="90000"/>
              </a:lnSpc>
              <a:spcAft>
                <a:spcPts val="600"/>
              </a:spcAft>
              <a:buClr>
                <a:schemeClr val="accent1"/>
              </a:buClr>
              <a:buFont typeface="Calibri" panose="020F0502020204030204" pitchFamily="34" charset="0"/>
              <a:buChar char="•"/>
            </a:pPr>
            <a:r>
              <a:rPr lang="en-US" b="1">
                <a:solidFill>
                  <a:schemeClr val="tx1">
                    <a:lumMod val="75000"/>
                    <a:lumOff val="25000"/>
                  </a:schemeClr>
                </a:solidFill>
              </a:rPr>
              <a:t> Reduces Ambiguity</a:t>
            </a:r>
            <a:br>
              <a:rPr lang="en-US">
                <a:solidFill>
                  <a:schemeClr val="tx1">
                    <a:lumMod val="75000"/>
                    <a:lumOff val="25000"/>
                  </a:schemeClr>
                </a:solidFill>
              </a:rPr>
            </a:br>
            <a:r>
              <a:rPr lang="en-US">
                <a:solidFill>
                  <a:schemeClr val="tx1">
                    <a:lumMod val="75000"/>
                    <a:lumOff val="25000"/>
                  </a:schemeClr>
                </a:solidFill>
              </a:rPr>
              <a:t>Three categories can be vague and fail to reflect nuanced opinions.</a:t>
            </a:r>
          </a:p>
          <a:p>
            <a:pPr marL="285750" indent="-285750" defTabSz="914400">
              <a:lnSpc>
                <a:spcPct val="90000"/>
              </a:lnSpc>
              <a:spcAft>
                <a:spcPts val="600"/>
              </a:spcAft>
              <a:buClr>
                <a:schemeClr val="accent1"/>
              </a:buClr>
              <a:buFont typeface="Calibri" panose="020F0502020204030204" pitchFamily="34" charset="0"/>
              <a:buChar char="•"/>
            </a:pPr>
            <a:r>
              <a:rPr lang="en-US" b="1">
                <a:solidFill>
                  <a:schemeClr val="tx1">
                    <a:lumMod val="75000"/>
                    <a:lumOff val="25000"/>
                  </a:schemeClr>
                </a:solidFill>
              </a:rPr>
              <a:t>Enables Better Data Analysis</a:t>
            </a:r>
            <a:br>
              <a:rPr lang="en-US">
                <a:solidFill>
                  <a:schemeClr val="tx1">
                    <a:lumMod val="75000"/>
                    <a:lumOff val="25000"/>
                  </a:schemeClr>
                </a:solidFill>
              </a:rPr>
            </a:br>
            <a:r>
              <a:rPr lang="en-US">
                <a:solidFill>
                  <a:schemeClr val="tx1">
                    <a:lumMod val="75000"/>
                    <a:lumOff val="25000"/>
                  </a:schemeClr>
                </a:solidFill>
              </a:rPr>
              <a:t>Numerical scores allow for statistical analysis, charts, and machine learning.</a:t>
            </a:r>
          </a:p>
          <a:p>
            <a:pPr marL="285750" indent="-285750" defTabSz="914400">
              <a:lnSpc>
                <a:spcPct val="90000"/>
              </a:lnSpc>
              <a:spcAft>
                <a:spcPts val="600"/>
              </a:spcAft>
              <a:buClr>
                <a:schemeClr val="accent1"/>
              </a:buClr>
              <a:buFont typeface="Calibri" panose="020F0502020204030204" pitchFamily="34" charset="0"/>
              <a:buChar char="•"/>
            </a:pPr>
            <a:r>
              <a:rPr lang="en-US" b="1">
                <a:solidFill>
                  <a:schemeClr val="tx1">
                    <a:lumMod val="75000"/>
                    <a:lumOff val="25000"/>
                  </a:schemeClr>
                </a:solidFill>
              </a:rPr>
              <a:t> Matches User Expectations</a:t>
            </a:r>
            <a:br>
              <a:rPr lang="en-US">
                <a:solidFill>
                  <a:schemeClr val="tx1">
                    <a:lumMod val="75000"/>
                    <a:lumOff val="25000"/>
                  </a:schemeClr>
                </a:solidFill>
              </a:rPr>
            </a:br>
            <a:r>
              <a:rPr lang="en-US">
                <a:solidFill>
                  <a:schemeClr val="tx1">
                    <a:lumMod val="75000"/>
                    <a:lumOff val="25000"/>
                  </a:schemeClr>
                </a:solidFill>
              </a:rPr>
              <a:t>The 5-star system is widely used on platforms like Amazon, Shopee, and Lazada.</a:t>
            </a:r>
          </a:p>
          <a:p>
            <a:pPr marL="285750" indent="-285750" defTabSz="914400">
              <a:lnSpc>
                <a:spcPct val="90000"/>
              </a:lnSpc>
              <a:spcAft>
                <a:spcPts val="600"/>
              </a:spcAft>
              <a:buClr>
                <a:schemeClr val="accent1"/>
              </a:buClr>
              <a:buFont typeface="Calibri" panose="020F0502020204030204" pitchFamily="34" charset="0"/>
              <a:buChar char="•"/>
            </a:pPr>
            <a:r>
              <a:rPr lang="en-US" b="1">
                <a:solidFill>
                  <a:schemeClr val="tx1">
                    <a:lumMod val="75000"/>
                    <a:lumOff val="25000"/>
                  </a:schemeClr>
                </a:solidFill>
              </a:rPr>
              <a:t> Improves Data Visualization</a:t>
            </a:r>
            <a:br>
              <a:rPr lang="en-US">
                <a:solidFill>
                  <a:schemeClr val="tx1">
                    <a:lumMod val="75000"/>
                    <a:lumOff val="25000"/>
                  </a:schemeClr>
                </a:solidFill>
              </a:rPr>
            </a:br>
            <a:r>
              <a:rPr lang="en-US">
                <a:solidFill>
                  <a:schemeClr val="tx1">
                    <a:lumMod val="75000"/>
                    <a:lumOff val="25000"/>
                  </a:schemeClr>
                </a:solidFill>
              </a:rPr>
              <a:t>Star distributions show clearer trends and rating differences.</a:t>
            </a:r>
          </a:p>
          <a:p>
            <a:pPr marL="285750" indent="-285750" defTabSz="914400">
              <a:lnSpc>
                <a:spcPct val="90000"/>
              </a:lnSpc>
              <a:spcAft>
                <a:spcPts val="600"/>
              </a:spcAft>
              <a:buClr>
                <a:schemeClr val="accent1"/>
              </a:buClr>
              <a:buFont typeface="Calibri" panose="020F0502020204030204" pitchFamily="34" charset="0"/>
              <a:buChar char="•"/>
            </a:pPr>
            <a:endParaRPr lang="en-US">
              <a:solidFill>
                <a:schemeClr val="tx1">
                  <a:lumMod val="75000"/>
                  <a:lumOff val="25000"/>
                </a:schemeClr>
              </a:solidFill>
            </a:endParaRPr>
          </a:p>
        </p:txBody>
      </p:sp>
      <p:sp>
        <p:nvSpPr>
          <p:cNvPr id="24" name="Rectangle 23">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30382" cy="797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69762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6635" y="1015484"/>
            <a:ext cx="11493341" cy="585430"/>
          </a:xfrm>
          <a:prstGeom prst="rect">
            <a:avLst/>
          </a:prstGeom>
          <a:noFill/>
          <a:ln/>
        </p:spPr>
        <p:txBody>
          <a:bodyPr wrap="none" lIns="0" tIns="0" rIns="0" bIns="0" rtlCol="0" anchor="t"/>
          <a:lstStyle/>
          <a:p>
            <a:pPr marL="0" indent="0" algn="l">
              <a:lnSpc>
                <a:spcPts val="4600"/>
              </a:lnSpc>
              <a:buNone/>
            </a:pPr>
            <a:r>
              <a:rPr lang="en-US" sz="3650" dirty="0">
                <a:latin typeface="Kanit" pitchFamily="34" charset="0"/>
                <a:ea typeface="Kanit" pitchFamily="34" charset="-122"/>
                <a:cs typeface="Kanit" pitchFamily="34" charset="-120"/>
              </a:rPr>
              <a:t>The Need for Multilingual Analysis in Emerging Markets</a:t>
            </a:r>
            <a:endParaRPr lang="en-US" sz="3650" dirty="0"/>
          </a:p>
        </p:txBody>
      </p:sp>
      <p:pic>
        <p:nvPicPr>
          <p:cNvPr id="3" name="Image 0" descr="preencoded.png"/>
          <p:cNvPicPr>
            <a:picLocks noChangeAspect="1"/>
          </p:cNvPicPr>
          <p:nvPr/>
        </p:nvPicPr>
        <p:blipFill>
          <a:blip r:embed="rId3"/>
          <a:stretch>
            <a:fillRect/>
          </a:stretch>
        </p:blipFill>
        <p:spPr>
          <a:xfrm>
            <a:off x="696635" y="2123242"/>
            <a:ext cx="6375797" cy="4362331"/>
          </a:xfrm>
          <a:prstGeom prst="rect">
            <a:avLst/>
          </a:prstGeom>
        </p:spPr>
      </p:pic>
      <p:sp>
        <p:nvSpPr>
          <p:cNvPr id="4" name="Text 1"/>
          <p:cNvSpPr/>
          <p:nvPr/>
        </p:nvSpPr>
        <p:spPr>
          <a:xfrm>
            <a:off x="7565588" y="2078474"/>
            <a:ext cx="6375797" cy="2229445"/>
          </a:xfrm>
          <a:prstGeom prst="rect">
            <a:avLst/>
          </a:prstGeom>
          <a:noFill/>
          <a:ln/>
        </p:spPr>
        <p:txBody>
          <a:bodyPr wrap="square" lIns="0" tIns="0" rIns="0" bIns="0" rtlCol="0" anchor="t"/>
          <a:lstStyle/>
          <a:p>
            <a:pPr marL="0" indent="0" algn="l">
              <a:lnSpc>
                <a:spcPts val="2500"/>
              </a:lnSpc>
              <a:buNone/>
            </a:pPr>
            <a:r>
              <a:rPr lang="en-US" sz="1650" dirty="0">
                <a:latin typeface="Martel Sans Light" pitchFamily="34" charset="0"/>
                <a:ea typeface="Martel Sans Light" pitchFamily="34" charset="-122"/>
                <a:cs typeface="Martel Sans Light" pitchFamily="34" charset="-120"/>
              </a:rPr>
              <a:t>Vietnam's developing economy presents a potential market. However, analyzing customer sentiment in this market is challenging due to the limited number of Vietnamese users who review products in English on international platforms. Therefore, this research incorporates both English and Vietnamese reviews, addressing the difficulties of processing both languages simultaneously.</a:t>
            </a:r>
            <a:endParaRPr lang="en-US" sz="1650" dirty="0"/>
          </a:p>
        </p:txBody>
      </p:sp>
      <p:sp>
        <p:nvSpPr>
          <p:cNvPr id="5" name="Text 2"/>
          <p:cNvSpPr/>
          <p:nvPr/>
        </p:nvSpPr>
        <p:spPr>
          <a:xfrm>
            <a:off x="7565588" y="4486989"/>
            <a:ext cx="6375797" cy="2547938"/>
          </a:xfrm>
          <a:prstGeom prst="rect">
            <a:avLst/>
          </a:prstGeom>
          <a:noFill/>
          <a:ln/>
        </p:spPr>
        <p:txBody>
          <a:bodyPr wrap="square" lIns="0" tIns="0" rIns="0" bIns="0" rtlCol="0" anchor="t"/>
          <a:lstStyle/>
          <a:p>
            <a:pPr>
              <a:lnSpc>
                <a:spcPts val="2500"/>
              </a:lnSpc>
            </a:pPr>
            <a:r>
              <a:rPr lang="en-US" sz="1650" dirty="0">
                <a:latin typeface="Martel Sans Light" pitchFamily="34" charset="0"/>
                <a:cs typeface="Martel Sans Light" pitchFamily="34" charset="-120"/>
              </a:rPr>
              <a:t>This research helps manufacturers better understand customer sentiment by analyzing star ratings more precisely than basic sentiment labels. It compares traditional ML models (Naïve Bayes, SVM, </a:t>
            </a:r>
            <a:r>
              <a:rPr lang="en-US" sz="1650" dirty="0" err="1">
                <a:latin typeface="Martel Sans Light" pitchFamily="34" charset="0"/>
                <a:cs typeface="Martel Sans Light" pitchFamily="34" charset="-120"/>
              </a:rPr>
              <a:t>XGBoost</a:t>
            </a:r>
            <a:r>
              <a:rPr lang="en-US" sz="1650" dirty="0">
                <a:latin typeface="Martel Sans Light" pitchFamily="34" charset="0"/>
                <a:cs typeface="Martel Sans Light" pitchFamily="34" charset="-120"/>
              </a:rPr>
              <a:t>) with </a:t>
            </a:r>
            <a:r>
              <a:rPr lang="en-US" sz="1650" dirty="0" err="1">
                <a:latin typeface="Martel Sans Light" pitchFamily="34" charset="0"/>
                <a:cs typeface="Martel Sans Light" pitchFamily="34" charset="-120"/>
              </a:rPr>
              <a:t>mBERT</a:t>
            </a:r>
            <a:r>
              <a:rPr lang="en-US" sz="1650" dirty="0">
                <a:latin typeface="Martel Sans Light" pitchFamily="34" charset="0"/>
                <a:cs typeface="Martel Sans Light" pitchFamily="34" charset="-120"/>
              </a:rPr>
              <a:t>, addressing the challenges of bilingual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7352" y="979289"/>
            <a:ext cx="8296404" cy="1205389"/>
          </a:xfrm>
          <a:prstGeom prst="rect">
            <a:avLst/>
          </a:prstGeom>
          <a:noFill/>
          <a:ln/>
        </p:spPr>
        <p:txBody>
          <a:bodyPr wrap="square" lIns="0" tIns="0" rIns="0" bIns="0" rtlCol="0" anchor="t"/>
          <a:lstStyle/>
          <a:p>
            <a:pPr marL="0" indent="0" algn="l">
              <a:lnSpc>
                <a:spcPts val="4700"/>
              </a:lnSpc>
              <a:buNone/>
            </a:pPr>
            <a:r>
              <a:rPr lang="en-US" sz="3750" dirty="0">
                <a:latin typeface="Kanit" pitchFamily="34" charset="0"/>
                <a:ea typeface="Kanit" pitchFamily="34" charset="-122"/>
                <a:cs typeface="Kanit" pitchFamily="34" charset="-120"/>
              </a:rPr>
              <a:t>Related Work: Emotion Recognition and Sentiment Analysis</a:t>
            </a:r>
            <a:endParaRPr lang="en-US" sz="3750" dirty="0"/>
          </a:p>
        </p:txBody>
      </p:sp>
      <p:sp>
        <p:nvSpPr>
          <p:cNvPr id="4" name="Text 1"/>
          <p:cNvSpPr/>
          <p:nvPr/>
        </p:nvSpPr>
        <p:spPr>
          <a:xfrm>
            <a:off x="1024771" y="2722602"/>
            <a:ext cx="7401877" cy="655558"/>
          </a:xfrm>
          <a:prstGeom prst="rect">
            <a:avLst/>
          </a:prstGeom>
          <a:noFill/>
          <a:ln/>
        </p:spPr>
        <p:txBody>
          <a:bodyPr wrap="square" lIns="0" tIns="0" rIns="0" bIns="0" rtlCol="0" anchor="t"/>
          <a:lstStyle/>
          <a:p>
            <a:pPr marL="0" indent="0" algn="l">
              <a:lnSpc>
                <a:spcPts val="2550"/>
              </a:lnSpc>
              <a:buNone/>
            </a:pPr>
            <a:r>
              <a:rPr lang="en-US" sz="1600" dirty="0">
                <a:latin typeface="Martel Sans Light" pitchFamily="34" charset="0"/>
                <a:ea typeface="Martel Sans Light" pitchFamily="34" charset="-122"/>
                <a:cs typeface="Martel Sans Light" pitchFamily="34" charset="-120"/>
              </a:rPr>
              <a:t>Previous studies have explored various aspects of emotion recognition and sentiment analysis, including:</a:t>
            </a:r>
            <a:endParaRPr lang="en-US" sz="1600" dirty="0"/>
          </a:p>
        </p:txBody>
      </p:sp>
      <p:sp>
        <p:nvSpPr>
          <p:cNvPr id="5" name="Text 2"/>
          <p:cNvSpPr/>
          <p:nvPr/>
        </p:nvSpPr>
        <p:spPr>
          <a:xfrm>
            <a:off x="1024771" y="3608665"/>
            <a:ext cx="7401877" cy="983337"/>
          </a:xfrm>
          <a:prstGeom prst="rect">
            <a:avLst/>
          </a:prstGeom>
          <a:noFill/>
          <a:ln/>
        </p:spPr>
        <p:txBody>
          <a:bodyPr wrap="square" lIns="0" tIns="0" rIns="0" bIns="0" rtlCol="0" anchor="t"/>
          <a:lstStyle/>
          <a:p>
            <a:pPr marL="0" indent="0" algn="l">
              <a:lnSpc>
                <a:spcPts val="2550"/>
              </a:lnSpc>
              <a:buNone/>
            </a:pPr>
            <a:r>
              <a:rPr lang="en-US" sz="1600" b="1" dirty="0">
                <a:latin typeface="Martel Sans Light" pitchFamily="34" charset="0"/>
                <a:ea typeface="Martel Sans Light" pitchFamily="34" charset="-122"/>
                <a:cs typeface="Martel Sans Light" pitchFamily="34" charset="-120"/>
              </a:rPr>
              <a:t>Recognizing emotions in Vietnamese:</a:t>
            </a:r>
            <a:r>
              <a:rPr lang="en-US" sz="1600" dirty="0">
                <a:latin typeface="Martel Sans Light" pitchFamily="34" charset="0"/>
                <a:ea typeface="Martel Sans Light" pitchFamily="34" charset="-122"/>
                <a:cs typeface="Martel Sans Light" pitchFamily="34" charset="-120"/>
              </a:rPr>
              <a:t> Vong Anh Ho et al. built the UIT-VSMEC dataset, labeling 6,927 Vietnamese sentences with six basic emotions. CNN achieved the highest performance with an F1-score of 59.74.</a:t>
            </a:r>
            <a:endParaRPr lang="en-US" sz="1600" dirty="0"/>
          </a:p>
        </p:txBody>
      </p:sp>
      <p:sp>
        <p:nvSpPr>
          <p:cNvPr id="6" name="Text 3"/>
          <p:cNvSpPr/>
          <p:nvPr/>
        </p:nvSpPr>
        <p:spPr>
          <a:xfrm>
            <a:off x="1024771" y="4822508"/>
            <a:ext cx="7401877" cy="983337"/>
          </a:xfrm>
          <a:prstGeom prst="rect">
            <a:avLst/>
          </a:prstGeom>
          <a:noFill/>
          <a:ln/>
        </p:spPr>
        <p:txBody>
          <a:bodyPr wrap="square" lIns="0" tIns="0" rIns="0" bIns="0" rtlCol="0" anchor="t"/>
          <a:lstStyle/>
          <a:p>
            <a:pPr marL="0" indent="0" algn="l">
              <a:lnSpc>
                <a:spcPts val="2550"/>
              </a:lnSpc>
              <a:buNone/>
            </a:pPr>
            <a:r>
              <a:rPr lang="en-US" sz="1600" b="1" dirty="0">
                <a:latin typeface="Martel Sans Light" pitchFamily="34" charset="0"/>
                <a:ea typeface="Martel Sans Light" pitchFamily="34" charset="-122"/>
                <a:cs typeface="Martel Sans Light" pitchFamily="34" charset="-120"/>
              </a:rPr>
              <a:t>Sentiment analysis for mixed language data:</a:t>
            </a:r>
            <a:r>
              <a:rPr lang="en-US" sz="1600" dirty="0">
                <a:latin typeface="Martel Sans Light" pitchFamily="34" charset="0"/>
                <a:ea typeface="Martel Sans Light" pitchFamily="34" charset="-122"/>
                <a:cs typeface="Martel Sans Light" pitchFamily="34" charset="-120"/>
              </a:rPr>
              <a:t> Muhammad Kashif Nazir et al. proposed the mBERT model for sentiment analysis on mixed language datasets, showing significant improvement over other algorithms.</a:t>
            </a:r>
            <a:endParaRPr lang="en-US" sz="1600" dirty="0"/>
          </a:p>
        </p:txBody>
      </p:sp>
      <p:sp>
        <p:nvSpPr>
          <p:cNvPr id="7" name="Text 4"/>
          <p:cNvSpPr/>
          <p:nvPr/>
        </p:nvSpPr>
        <p:spPr>
          <a:xfrm>
            <a:off x="1024771" y="6036350"/>
            <a:ext cx="7401877" cy="983337"/>
          </a:xfrm>
          <a:prstGeom prst="rect">
            <a:avLst/>
          </a:prstGeom>
          <a:noFill/>
          <a:ln/>
        </p:spPr>
        <p:txBody>
          <a:bodyPr wrap="square" lIns="0" tIns="0" rIns="0" bIns="0" rtlCol="0" anchor="t"/>
          <a:lstStyle/>
          <a:p>
            <a:pPr marL="0" indent="0" algn="l">
              <a:lnSpc>
                <a:spcPts val="2550"/>
              </a:lnSpc>
              <a:buNone/>
            </a:pPr>
            <a:r>
              <a:rPr lang="en-US" sz="1600" b="1" dirty="0">
                <a:latin typeface="Martel Sans Light" pitchFamily="34" charset="0"/>
                <a:ea typeface="Martel Sans Light" pitchFamily="34" charset="-122"/>
                <a:cs typeface="Martel Sans Light" pitchFamily="34" charset="-120"/>
              </a:rPr>
              <a:t>Sentiment analysis across multiple languages:</a:t>
            </a:r>
            <a:r>
              <a:rPr lang="en-US" sz="1600" dirty="0">
                <a:latin typeface="Martel Sans Light" pitchFamily="34" charset="0"/>
                <a:ea typeface="Martel Sans Light" pitchFamily="34" charset="-122"/>
                <a:cs typeface="Martel Sans Light" pitchFamily="34" charset="-120"/>
              </a:rPr>
              <a:t> Madushanka Perera et al. showed that Transformer models (BERT, XLM-R) outperformed RNN in Malayalam-based sentiment classification.</a:t>
            </a:r>
            <a:endParaRPr lang="en-US" sz="1600" dirty="0"/>
          </a:p>
        </p:txBody>
      </p:sp>
      <p:sp>
        <p:nvSpPr>
          <p:cNvPr id="8" name="Shape 5"/>
          <p:cNvSpPr/>
          <p:nvPr/>
        </p:nvSpPr>
        <p:spPr>
          <a:xfrm>
            <a:off x="717352" y="2492097"/>
            <a:ext cx="22860" cy="4758095"/>
          </a:xfrm>
          <a:prstGeom prst="rect">
            <a:avLst/>
          </a:prstGeom>
          <a:solidFill>
            <a:srgbClr val="FD505F"/>
          </a:solidFill>
          <a:ln/>
        </p:spPr>
        <p:txBody>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7123" y="808315"/>
            <a:ext cx="11003161" cy="669846"/>
          </a:xfrm>
          <a:prstGeom prst="rect">
            <a:avLst/>
          </a:prstGeom>
          <a:noFill/>
          <a:ln/>
        </p:spPr>
        <p:txBody>
          <a:bodyPr wrap="none" lIns="0" tIns="0" rIns="0" bIns="0" rtlCol="0" anchor="t"/>
          <a:lstStyle/>
          <a:p>
            <a:pPr marL="0" indent="0" algn="l">
              <a:lnSpc>
                <a:spcPts val="5250"/>
              </a:lnSpc>
              <a:buNone/>
            </a:pPr>
            <a:r>
              <a:rPr lang="en-US" sz="4200" dirty="0">
                <a:latin typeface="Kanit" pitchFamily="34" charset="0"/>
                <a:ea typeface="Kanit" pitchFamily="34" charset="-122"/>
                <a:cs typeface="Kanit" pitchFamily="34" charset="-120"/>
              </a:rPr>
              <a:t>Methodology: Dataset and Data Preprocessing</a:t>
            </a:r>
            <a:endParaRPr lang="en-US" sz="4200" dirty="0"/>
          </a:p>
        </p:txBody>
      </p:sp>
      <p:sp>
        <p:nvSpPr>
          <p:cNvPr id="3" name="Text 1"/>
          <p:cNvSpPr/>
          <p:nvPr/>
        </p:nvSpPr>
        <p:spPr>
          <a:xfrm>
            <a:off x="797123" y="2024658"/>
            <a:ext cx="6803589" cy="1092994"/>
          </a:xfrm>
          <a:prstGeom prst="rect">
            <a:avLst/>
          </a:prstGeom>
          <a:noFill/>
          <a:ln/>
        </p:spPr>
        <p:txBody>
          <a:bodyPr wrap="square" lIns="0" tIns="0" rIns="0" bIns="0" rtlCol="0" anchor="t"/>
          <a:lstStyle/>
          <a:p>
            <a:pPr marL="0" indent="0" algn="l">
              <a:lnSpc>
                <a:spcPts val="2850"/>
              </a:lnSpc>
              <a:buNone/>
            </a:pPr>
            <a:r>
              <a:rPr lang="en-US" sz="1750" dirty="0">
                <a:latin typeface="Martel Sans Light" pitchFamily="34" charset="0"/>
                <a:ea typeface="Martel Sans Light" pitchFamily="34" charset="-122"/>
                <a:cs typeface="Martel Sans Light" pitchFamily="34" charset="-120"/>
              </a:rPr>
              <a:t>The dataset used in this study is the "Amazon Product Review for Analysis" dataset from Kaggle with 30846 rows, which includes customer reviews and star ratings. The dataset features:</a:t>
            </a:r>
            <a:endParaRPr lang="en-US" sz="1750" dirty="0"/>
          </a:p>
        </p:txBody>
      </p:sp>
      <p:sp>
        <p:nvSpPr>
          <p:cNvPr id="4" name="Text 2"/>
          <p:cNvSpPr/>
          <p:nvPr/>
        </p:nvSpPr>
        <p:spPr>
          <a:xfrm>
            <a:off x="797123" y="3322558"/>
            <a:ext cx="6240185" cy="728662"/>
          </a:xfrm>
          <a:prstGeom prst="rect">
            <a:avLst/>
          </a:prstGeom>
          <a:noFill/>
          <a:ln/>
        </p:spPr>
        <p:txBody>
          <a:bodyPr wrap="square" lIns="0" tIns="0" rIns="0" bIns="0" rtlCol="0" anchor="t"/>
          <a:lstStyle/>
          <a:p>
            <a:pPr marL="0" indent="0" algn="l">
              <a:lnSpc>
                <a:spcPts val="2850"/>
              </a:lnSpc>
              <a:buNone/>
            </a:pPr>
            <a:r>
              <a:rPr lang="en-US" sz="1750" b="1" dirty="0">
                <a:latin typeface="Martel Sans Light" pitchFamily="34" charset="0"/>
                <a:ea typeface="Martel Sans Light" pitchFamily="34" charset="-122"/>
                <a:cs typeface="Martel Sans Light" pitchFamily="34" charset="-120"/>
              </a:rPr>
              <a:t>Review Text:</a:t>
            </a:r>
            <a:r>
              <a:rPr lang="en-US" sz="1750" dirty="0">
                <a:latin typeface="Martel Sans Light" pitchFamily="34" charset="0"/>
                <a:ea typeface="Martel Sans Light" pitchFamily="34" charset="-122"/>
                <a:cs typeface="Martel Sans Light" pitchFamily="34" charset="-120"/>
              </a:rPr>
              <a:t> Detailed customer feedback, cleaned to remove noise.</a:t>
            </a:r>
            <a:endParaRPr lang="en-US" sz="1750" dirty="0"/>
          </a:p>
        </p:txBody>
      </p:sp>
      <p:sp>
        <p:nvSpPr>
          <p:cNvPr id="5" name="Text 3"/>
          <p:cNvSpPr/>
          <p:nvPr/>
        </p:nvSpPr>
        <p:spPr>
          <a:xfrm>
            <a:off x="797123" y="4256127"/>
            <a:ext cx="6240185" cy="1092994"/>
          </a:xfrm>
          <a:prstGeom prst="rect">
            <a:avLst/>
          </a:prstGeom>
          <a:noFill/>
          <a:ln/>
        </p:spPr>
        <p:txBody>
          <a:bodyPr wrap="square" lIns="0" tIns="0" rIns="0" bIns="0" rtlCol="0" anchor="t"/>
          <a:lstStyle/>
          <a:p>
            <a:pPr marL="0" indent="0" algn="l">
              <a:lnSpc>
                <a:spcPts val="2850"/>
              </a:lnSpc>
              <a:buNone/>
            </a:pPr>
            <a:r>
              <a:rPr lang="en-US" sz="1750" b="1" dirty="0">
                <a:latin typeface="Martel Sans Light" pitchFamily="34" charset="0"/>
                <a:ea typeface="Martel Sans Light" pitchFamily="34" charset="-122"/>
                <a:cs typeface="Martel Sans Light" pitchFamily="34" charset="-120"/>
              </a:rPr>
              <a:t>Star Ratings:</a:t>
            </a:r>
            <a:r>
              <a:rPr lang="en-US" sz="1750" dirty="0">
                <a:latin typeface="Martel Sans Light" pitchFamily="34" charset="0"/>
                <a:ea typeface="Martel Sans Light" pitchFamily="34" charset="-122"/>
                <a:cs typeface="Martel Sans Light" pitchFamily="34" charset="-120"/>
              </a:rPr>
              <a:t> Ratings on a scale of 1-5 stars, used to label emotions (1-2 stars: Negative, 3 stars: Neutral, 4-5 stars: Positive).</a:t>
            </a:r>
            <a:endParaRPr lang="en-US" sz="1750" dirty="0"/>
          </a:p>
        </p:txBody>
      </p:sp>
      <p:sp>
        <p:nvSpPr>
          <p:cNvPr id="6" name="Text 4"/>
          <p:cNvSpPr/>
          <p:nvPr/>
        </p:nvSpPr>
        <p:spPr>
          <a:xfrm>
            <a:off x="797123" y="5554028"/>
            <a:ext cx="6240185" cy="728662"/>
          </a:xfrm>
          <a:prstGeom prst="rect">
            <a:avLst/>
          </a:prstGeom>
          <a:noFill/>
          <a:ln/>
        </p:spPr>
        <p:txBody>
          <a:bodyPr wrap="square" lIns="0" tIns="0" rIns="0" bIns="0" rtlCol="0" anchor="t"/>
          <a:lstStyle/>
          <a:p>
            <a:pPr marL="0" indent="0" algn="l">
              <a:lnSpc>
                <a:spcPts val="2850"/>
              </a:lnSpc>
              <a:buNone/>
            </a:pPr>
            <a:r>
              <a:rPr lang="en-US" sz="1750" b="1" dirty="0">
                <a:latin typeface="Martel Sans Light" pitchFamily="34" charset="0"/>
                <a:ea typeface="Martel Sans Light" pitchFamily="34" charset="-122"/>
                <a:cs typeface="Martel Sans Light" pitchFamily="34" charset="-120"/>
              </a:rPr>
              <a:t>Cleaned Review Text:</a:t>
            </a:r>
            <a:r>
              <a:rPr lang="en-US" sz="1750" dirty="0">
                <a:latin typeface="Martel Sans Light" pitchFamily="34" charset="0"/>
                <a:ea typeface="Martel Sans Light" pitchFamily="34" charset="-122"/>
                <a:cs typeface="Martel Sans Light" pitchFamily="34" charset="-120"/>
              </a:rPr>
              <a:t> Processed version of the review text.</a:t>
            </a:r>
            <a:endParaRPr lang="en-US" sz="1750" dirty="0"/>
          </a:p>
        </p:txBody>
      </p:sp>
      <p:sp>
        <p:nvSpPr>
          <p:cNvPr id="7" name="Text 5"/>
          <p:cNvSpPr/>
          <p:nvPr/>
        </p:nvSpPr>
        <p:spPr>
          <a:xfrm>
            <a:off x="797122" y="6215539"/>
            <a:ext cx="6240185" cy="728662"/>
          </a:xfrm>
          <a:prstGeom prst="rect">
            <a:avLst/>
          </a:prstGeom>
          <a:noFill/>
          <a:ln/>
        </p:spPr>
        <p:txBody>
          <a:bodyPr wrap="square" lIns="0" tIns="0" rIns="0" bIns="0" rtlCol="0" anchor="t"/>
          <a:lstStyle/>
          <a:p>
            <a:pPr marL="0" indent="0" algn="l">
              <a:lnSpc>
                <a:spcPts val="2850"/>
              </a:lnSpc>
              <a:buNone/>
            </a:pPr>
            <a:r>
              <a:rPr lang="en-US" sz="1750" b="1" dirty="0">
                <a:latin typeface="Martel Sans Light" pitchFamily="34" charset="0"/>
                <a:ea typeface="Martel Sans Light" pitchFamily="34" charset="-122"/>
                <a:cs typeface="Martel Sans Light" pitchFamily="34" charset="-120"/>
              </a:rPr>
              <a:t>Sentiment Labels:</a:t>
            </a:r>
            <a:r>
              <a:rPr lang="en-US" sz="1750" dirty="0">
                <a:latin typeface="Martel Sans Light" pitchFamily="34" charset="0"/>
                <a:ea typeface="Martel Sans Light" pitchFamily="34" charset="-122"/>
                <a:cs typeface="Martel Sans Light" pitchFamily="34" charset="-120"/>
              </a:rPr>
              <a:t> Sentiment labels derived from star ratings.</a:t>
            </a:r>
            <a:endParaRPr lang="en-US" sz="1750" dirty="0"/>
          </a:p>
        </p:txBody>
      </p:sp>
      <p:pic>
        <p:nvPicPr>
          <p:cNvPr id="8" name="Image 0" descr="preencoded.png"/>
          <p:cNvPicPr>
            <a:picLocks noChangeAspect="1"/>
          </p:cNvPicPr>
          <p:nvPr/>
        </p:nvPicPr>
        <p:blipFill>
          <a:blip r:embed="rId3"/>
          <a:stretch>
            <a:fillRect/>
          </a:stretch>
        </p:blipFill>
        <p:spPr>
          <a:xfrm>
            <a:off x="7962662" y="2075974"/>
            <a:ext cx="6240185" cy="42695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315283"/>
            <a:ext cx="10086856" cy="704017"/>
          </a:xfrm>
          <a:prstGeom prst="rect">
            <a:avLst/>
          </a:prstGeom>
          <a:noFill/>
          <a:ln/>
        </p:spPr>
        <p:txBody>
          <a:bodyPr wrap="none" lIns="0" tIns="0" rIns="0" bIns="0" rtlCol="0" anchor="t"/>
          <a:lstStyle/>
          <a:p>
            <a:pPr marL="0" indent="0" algn="l">
              <a:lnSpc>
                <a:spcPts val="5500"/>
              </a:lnSpc>
              <a:buNone/>
            </a:pPr>
            <a:r>
              <a:rPr lang="en-US" sz="4400" dirty="0">
                <a:latin typeface="Kanit" pitchFamily="34" charset="0"/>
                <a:ea typeface="Kanit" pitchFamily="34" charset="-122"/>
                <a:cs typeface="Kanit" pitchFamily="34" charset="-120"/>
              </a:rPr>
              <a:t>Data Preprocessing and Model Selection</a:t>
            </a:r>
            <a:endParaRPr lang="en-US" sz="4400" dirty="0"/>
          </a:p>
        </p:txBody>
      </p:sp>
      <p:sp>
        <p:nvSpPr>
          <p:cNvPr id="3" name="Text 1"/>
          <p:cNvSpPr/>
          <p:nvPr/>
        </p:nvSpPr>
        <p:spPr>
          <a:xfrm>
            <a:off x="837724" y="2498050"/>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a:pPr>
            <a:r>
              <a:rPr lang="en-US" sz="1850" dirty="0">
                <a:latin typeface="Martel Sans Light" pitchFamily="34" charset="0"/>
                <a:ea typeface="Martel Sans Light" pitchFamily="34" charset="-122"/>
                <a:cs typeface="Martel Sans Light" pitchFamily="34" charset="-120"/>
              </a:rPr>
              <a:t>Check data: If text is not a string, return the string "".</a:t>
            </a:r>
            <a:endParaRPr lang="en-US" sz="1850" dirty="0"/>
          </a:p>
        </p:txBody>
      </p:sp>
      <p:sp>
        <p:nvSpPr>
          <p:cNvPr id="4" name="Text 2"/>
          <p:cNvSpPr/>
          <p:nvPr/>
        </p:nvSpPr>
        <p:spPr>
          <a:xfrm>
            <a:off x="837724" y="2964775"/>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2"/>
            </a:pPr>
            <a:r>
              <a:rPr lang="en-US" sz="1850" dirty="0">
                <a:latin typeface="Martel Sans Light" pitchFamily="34" charset="0"/>
                <a:ea typeface="Martel Sans Light" pitchFamily="34" charset="-122"/>
                <a:cs typeface="Martel Sans Light" pitchFamily="34" charset="-120"/>
              </a:rPr>
              <a:t>Remove HTML tags: If the text contains HTML, use regex to remove all tags like ¡p¿, ¡br¿, ¡a¿,...</a:t>
            </a:r>
            <a:endParaRPr lang="en-US" sz="1850" dirty="0"/>
          </a:p>
        </p:txBody>
      </p:sp>
      <p:sp>
        <p:nvSpPr>
          <p:cNvPr id="5" name="Text 3"/>
          <p:cNvSpPr/>
          <p:nvPr/>
        </p:nvSpPr>
        <p:spPr>
          <a:xfrm>
            <a:off x="837724" y="3431500"/>
            <a:ext cx="12954952" cy="766048"/>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3"/>
            </a:pPr>
            <a:r>
              <a:rPr lang="en-US" sz="1850" dirty="0">
                <a:latin typeface="Martel Sans Light" pitchFamily="34" charset="0"/>
                <a:ea typeface="Martel Sans Light" pitchFamily="34" charset="-122"/>
                <a:cs typeface="Martel Sans Light" pitchFamily="34" charset="-120"/>
              </a:rPr>
              <a:t>Normalize Vietnamese: If the text is Vietnamese, use textnormalize() to standardize punctuation, capitalization, spelling errors,...</a:t>
            </a:r>
            <a:endParaRPr lang="en-US" sz="1850" dirty="0"/>
          </a:p>
        </p:txBody>
      </p:sp>
      <p:sp>
        <p:nvSpPr>
          <p:cNvPr id="6" name="Text 4"/>
          <p:cNvSpPr/>
          <p:nvPr/>
        </p:nvSpPr>
        <p:spPr>
          <a:xfrm>
            <a:off x="837724" y="4281249"/>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4"/>
            </a:pPr>
            <a:r>
              <a:rPr lang="en-US" sz="1850" dirty="0">
                <a:latin typeface="Martel Sans Light" pitchFamily="34" charset="0"/>
                <a:ea typeface="Martel Sans Light" pitchFamily="34" charset="-122"/>
                <a:cs typeface="Martel Sans Light" pitchFamily="34" charset="-120"/>
              </a:rPr>
              <a:t>Convert to lower case: To avoid distinguishing between "great" and "Great".</a:t>
            </a:r>
            <a:endParaRPr lang="en-US" sz="1850" dirty="0"/>
          </a:p>
        </p:txBody>
      </p:sp>
      <p:sp>
        <p:nvSpPr>
          <p:cNvPr id="7" name="Text 5"/>
          <p:cNvSpPr/>
          <p:nvPr/>
        </p:nvSpPr>
        <p:spPr>
          <a:xfrm>
            <a:off x="837724" y="4747974"/>
            <a:ext cx="12954952" cy="766048"/>
          </a:xfrm>
          <a:prstGeom prst="rect">
            <a:avLst/>
          </a:prstGeom>
          <a:noFill/>
          <a:ln/>
        </p:spPr>
        <p:txBody>
          <a:bodyPr wrap="square" lIns="0" tIns="0" rIns="0" bIns="0" rtlCol="0" anchor="t"/>
          <a:lstStyle/>
          <a:p>
            <a:pPr marL="342900" indent="-342900" algn="l">
              <a:lnSpc>
                <a:spcPts val="3000"/>
              </a:lnSpc>
              <a:buSzPct val="100000"/>
              <a:buFont typeface="+mj-lt"/>
              <a:buAutoNum type="arabicPeriod" startAt="5"/>
            </a:pPr>
            <a:r>
              <a:rPr lang="en-US" sz="1850" dirty="0">
                <a:latin typeface="Martel Sans Light" pitchFamily="34" charset="0"/>
                <a:ea typeface="Martel Sans Light" pitchFamily="34" charset="-122"/>
                <a:cs typeface="Martel Sans Light" pitchFamily="34" charset="-120"/>
              </a:rPr>
              <a:t>Remove special characters, numbers and punctuation, non-existent values: Retain letters (both English and Vietnamese) and spaces.</a:t>
            </a:r>
            <a:endParaRPr lang="en-US" sz="1850" dirty="0"/>
          </a:p>
        </p:txBody>
      </p:sp>
      <p:sp>
        <p:nvSpPr>
          <p:cNvPr id="8" name="Text 6"/>
          <p:cNvSpPr/>
          <p:nvPr/>
        </p:nvSpPr>
        <p:spPr>
          <a:xfrm>
            <a:off x="837724" y="5597723"/>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6"/>
            </a:pPr>
            <a:r>
              <a:rPr lang="en-US" sz="1850" dirty="0">
                <a:latin typeface="Martel Sans Light" pitchFamily="34" charset="0"/>
                <a:ea typeface="Martel Sans Light" pitchFamily="34" charset="-122"/>
                <a:cs typeface="Martel Sans Light" pitchFamily="34" charset="-120"/>
              </a:rPr>
              <a:t>Tokenization: Helps the model understand individual words better.</a:t>
            </a:r>
            <a:endParaRPr lang="en-US" sz="1850" dirty="0"/>
          </a:p>
        </p:txBody>
      </p:sp>
      <p:sp>
        <p:nvSpPr>
          <p:cNvPr id="9" name="Text 7"/>
          <p:cNvSpPr/>
          <p:nvPr/>
        </p:nvSpPr>
        <p:spPr>
          <a:xfrm>
            <a:off x="837724" y="6064448"/>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7"/>
            </a:pPr>
            <a:r>
              <a:rPr lang="en-US" sz="1850" dirty="0">
                <a:latin typeface="Martel Sans Light" pitchFamily="34" charset="0"/>
                <a:ea typeface="Martel Sans Light" pitchFamily="34" charset="-122"/>
                <a:cs typeface="Martel Sans Light" pitchFamily="34" charset="-120"/>
              </a:rPr>
              <a:t>Save the cleaned data to a new CSV file for later use.</a:t>
            </a:r>
            <a:endParaRPr lang="en-US" sz="1850" dirty="0"/>
          </a:p>
        </p:txBody>
      </p:sp>
      <p:sp>
        <p:nvSpPr>
          <p:cNvPr id="10" name="Text 8"/>
          <p:cNvSpPr/>
          <p:nvPr/>
        </p:nvSpPr>
        <p:spPr>
          <a:xfrm>
            <a:off x="837724" y="6531173"/>
            <a:ext cx="12954952" cy="383024"/>
          </a:xfrm>
          <a:prstGeom prst="rect">
            <a:avLst/>
          </a:prstGeom>
          <a:noFill/>
          <a:ln/>
        </p:spPr>
        <p:txBody>
          <a:bodyPr wrap="none" lIns="0" tIns="0" rIns="0" bIns="0" rtlCol="0" anchor="t"/>
          <a:lstStyle/>
          <a:p>
            <a:pPr marL="342900" indent="-342900" algn="l">
              <a:lnSpc>
                <a:spcPts val="3000"/>
              </a:lnSpc>
              <a:buSzPct val="100000"/>
              <a:buFont typeface="+mj-lt"/>
              <a:buAutoNum type="arabicPeriod" startAt="8"/>
            </a:pPr>
            <a:r>
              <a:rPr lang="en-US" sz="1850" dirty="0">
                <a:latin typeface="Martel Sans Light" pitchFamily="34" charset="0"/>
                <a:ea typeface="Martel Sans Light" pitchFamily="34" charset="-122"/>
                <a:cs typeface="Martel Sans Light" pitchFamily="34" charset="-120"/>
              </a:rPr>
              <a:t>Vectorization: Using TF-IDF to embed data helps the model learn better.</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26590"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8" name="Straight Connector 3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9189"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9" name="Rectangle 38">
            <a:extLst>
              <a:ext uri="{FF2B5EF4-FFF2-40B4-BE49-F238E27FC236}">
                <a16:creationId xmlns:a16="http://schemas.microsoft.com/office/drawing/2014/main" id="{8D0DE514-8876-4D18-A995-61A5C1F81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1" cy="5885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9DA791C-FFCF-422E-8775-BDA6C0E5E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808" y="5943600"/>
            <a:ext cx="1462674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4497970-F4C4-A44C-133E-B95DFA646839}"/>
              </a:ext>
            </a:extLst>
          </p:cNvPr>
          <p:cNvSpPr>
            <a:spLocks noGrp="1"/>
          </p:cNvSpPr>
          <p:nvPr>
            <p:ph type="title"/>
          </p:nvPr>
        </p:nvSpPr>
        <p:spPr>
          <a:xfrm>
            <a:off x="1278236" y="6144768"/>
            <a:ext cx="12070080" cy="987552"/>
          </a:xfrm>
        </p:spPr>
        <p:txBody>
          <a:bodyPr vert="horz" lIns="91440" tIns="45720" rIns="91440" bIns="45720" rtlCol="0" anchor="b">
            <a:normAutofit/>
          </a:bodyPr>
          <a:lstStyle/>
          <a:p>
            <a:pPr defTabSz="914400"/>
            <a:r>
              <a:rPr lang="en-US" sz="4300" b="1" spc="-50">
                <a:solidFill>
                  <a:srgbClr val="FFFFFF"/>
                </a:solidFill>
              </a:rPr>
              <a:t>Dataset Before Cleaning</a:t>
            </a:r>
          </a:p>
        </p:txBody>
      </p:sp>
      <p:pic>
        <p:nvPicPr>
          <p:cNvPr id="5" name="Content Placeholder 4">
            <a:extLst>
              <a:ext uri="{FF2B5EF4-FFF2-40B4-BE49-F238E27FC236}">
                <a16:creationId xmlns:a16="http://schemas.microsoft.com/office/drawing/2014/main" id="{6B186328-A5DE-E352-802C-85CC982FDECA}"/>
              </a:ext>
            </a:extLst>
          </p:cNvPr>
          <p:cNvPicPr>
            <a:picLocks noGrp="1" noChangeAspect="1"/>
          </p:cNvPicPr>
          <p:nvPr>
            <p:ph idx="1"/>
          </p:nvPr>
        </p:nvPicPr>
        <p:blipFill>
          <a:blip r:embed="rId2"/>
          <a:stretch>
            <a:fillRect/>
          </a:stretch>
        </p:blipFill>
        <p:spPr>
          <a:xfrm>
            <a:off x="1156562" y="772245"/>
            <a:ext cx="12318594" cy="4342303"/>
          </a:xfrm>
          <a:prstGeom prst="rect">
            <a:avLst/>
          </a:prstGeom>
        </p:spPr>
      </p:pic>
      <p:sp>
        <p:nvSpPr>
          <p:cNvPr id="35" name="Rectangle 34">
            <a:extLst>
              <a:ext uri="{FF2B5EF4-FFF2-40B4-BE49-F238E27FC236}">
                <a16:creationId xmlns:a16="http://schemas.microsoft.com/office/drawing/2014/main" id="{0DCF8855-3530-4F46-A4CB-3B6686EEE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8" y="5887411"/>
            <a:ext cx="14626742"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02144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7C0BFB-CA36-9F16-42E2-D1544F9E9A96}"/>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26590"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9189"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8D0DE514-8876-4D18-A995-61A5C1F81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1" cy="58850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9DA791C-FFCF-422E-8775-BDA6C0E5E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808" y="5943600"/>
            <a:ext cx="1462674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697DBF5-CCE5-4B18-3EBA-6C0F8451F11E}"/>
              </a:ext>
            </a:extLst>
          </p:cNvPr>
          <p:cNvSpPr>
            <a:spLocks noGrp="1"/>
          </p:cNvSpPr>
          <p:nvPr>
            <p:ph type="title"/>
          </p:nvPr>
        </p:nvSpPr>
        <p:spPr>
          <a:xfrm>
            <a:off x="1278236" y="6144768"/>
            <a:ext cx="12070080" cy="987552"/>
          </a:xfrm>
        </p:spPr>
        <p:txBody>
          <a:bodyPr vert="horz" lIns="91440" tIns="45720" rIns="91440" bIns="45720" rtlCol="0" anchor="b">
            <a:normAutofit/>
          </a:bodyPr>
          <a:lstStyle/>
          <a:p>
            <a:pPr defTabSz="914400"/>
            <a:r>
              <a:rPr lang="en-US" sz="4300" spc="-50" dirty="0">
                <a:solidFill>
                  <a:srgbClr val="FFFFFF"/>
                </a:solidFill>
                <a:latin typeface="Kanit" panose="020B0604020202020204" charset="-34"/>
                <a:cs typeface="Kanit" panose="020B0604020202020204" charset="-34"/>
              </a:rPr>
              <a:t>Dataset After Cleaning</a:t>
            </a:r>
          </a:p>
        </p:txBody>
      </p:sp>
      <p:pic>
        <p:nvPicPr>
          <p:cNvPr id="5" name="Content Placeholder 4">
            <a:extLst>
              <a:ext uri="{FF2B5EF4-FFF2-40B4-BE49-F238E27FC236}">
                <a16:creationId xmlns:a16="http://schemas.microsoft.com/office/drawing/2014/main" id="{D9856963-2FE2-B7B7-61C5-53775C46FC71}"/>
              </a:ext>
            </a:extLst>
          </p:cNvPr>
          <p:cNvPicPr>
            <a:picLocks noGrp="1" noChangeAspect="1"/>
          </p:cNvPicPr>
          <p:nvPr>
            <p:ph idx="1"/>
          </p:nvPr>
        </p:nvPicPr>
        <p:blipFill>
          <a:blip r:embed="rId2"/>
          <a:srcRect t="-2349" b="13409"/>
          <a:stretch/>
        </p:blipFill>
        <p:spPr>
          <a:xfrm>
            <a:off x="1787341" y="301621"/>
            <a:ext cx="10771286" cy="5173120"/>
          </a:xfrm>
          <a:prstGeom prst="rect">
            <a:avLst/>
          </a:prstGeom>
        </p:spPr>
      </p:pic>
      <p:sp>
        <p:nvSpPr>
          <p:cNvPr id="41" name="Rectangle 40">
            <a:extLst>
              <a:ext uri="{FF2B5EF4-FFF2-40B4-BE49-F238E27FC236}">
                <a16:creationId xmlns:a16="http://schemas.microsoft.com/office/drawing/2014/main" id="{0DCF8855-3530-4F46-A4CB-3B6686EEE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8" y="5887411"/>
            <a:ext cx="14626742"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71616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26590"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4" name="Straight Connector 33">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9189"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Content Placeholder 7">
            <a:extLst>
              <a:ext uri="{FF2B5EF4-FFF2-40B4-BE49-F238E27FC236}">
                <a16:creationId xmlns:a16="http://schemas.microsoft.com/office/drawing/2014/main" id="{D550188E-E97E-B626-5107-CCD0E7528375}"/>
              </a:ext>
            </a:extLst>
          </p:cNvPr>
          <p:cNvPicPr>
            <a:picLocks noGrp="1" noChangeAspect="1"/>
          </p:cNvPicPr>
          <p:nvPr>
            <p:ph idx="1"/>
          </p:nvPr>
        </p:nvPicPr>
        <p:blipFill>
          <a:blip r:embed="rId2"/>
          <a:srcRect l="26" t="-521" r="-26"/>
          <a:stretch/>
        </p:blipFill>
        <p:spPr>
          <a:xfrm>
            <a:off x="-38" y="-408966"/>
            <a:ext cx="14630436" cy="6637707"/>
          </a:xfrm>
          <a:prstGeom prst="rect">
            <a:avLst/>
          </a:prstGeom>
        </p:spPr>
      </p:pic>
      <p:sp>
        <p:nvSpPr>
          <p:cNvPr id="36" name="Rectangle 35">
            <a:extLst>
              <a:ext uri="{FF2B5EF4-FFF2-40B4-BE49-F238E27FC236}">
                <a16:creationId xmlns:a16="http://schemas.microsoft.com/office/drawing/2014/main" id="{B76D919A-FC3E-4B4E-BAF0-ED6CFB8DC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808" y="5943600"/>
            <a:ext cx="1462674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E32C53DC-5EC0-1543-C1DC-2BBD4B8FCCC0}"/>
              </a:ext>
            </a:extLst>
          </p:cNvPr>
          <p:cNvSpPr>
            <a:spLocks noGrp="1"/>
          </p:cNvSpPr>
          <p:nvPr>
            <p:ph type="title"/>
          </p:nvPr>
        </p:nvSpPr>
        <p:spPr>
          <a:xfrm>
            <a:off x="1278236" y="6144768"/>
            <a:ext cx="12070080" cy="987552"/>
          </a:xfrm>
        </p:spPr>
        <p:txBody>
          <a:bodyPr vert="horz" lIns="91440" tIns="45720" rIns="91440" bIns="45720" rtlCol="0" anchor="b">
            <a:normAutofit/>
          </a:bodyPr>
          <a:lstStyle/>
          <a:p>
            <a:pPr defTabSz="914400"/>
            <a:r>
              <a:rPr lang="en-US" sz="4300" spc="-50" dirty="0">
                <a:latin typeface="Kanit" panose="020B0604020202020204" charset="-34"/>
                <a:cs typeface="Kanit" panose="020B0604020202020204" charset="-34"/>
              </a:rPr>
              <a:t>Classified star rating by </a:t>
            </a:r>
            <a:r>
              <a:rPr lang="en-US" sz="4300" spc="-50" dirty="0" err="1">
                <a:latin typeface="Kanit" panose="020B0604020202020204" charset="-34"/>
                <a:cs typeface="Kanit" panose="020B0604020202020204" charset="-34"/>
              </a:rPr>
              <a:t>product_category</a:t>
            </a:r>
            <a:endParaRPr lang="en-US" sz="4300" spc="-50" dirty="0">
              <a:latin typeface="Kanit" panose="020B0604020202020204" charset="-34"/>
              <a:cs typeface="Kanit" panose="020B0604020202020204" charset="-34"/>
            </a:endParaRPr>
          </a:p>
        </p:txBody>
      </p:sp>
      <p:sp>
        <p:nvSpPr>
          <p:cNvPr id="38" name="Rectangle 37">
            <a:extLst>
              <a:ext uri="{FF2B5EF4-FFF2-40B4-BE49-F238E27FC236}">
                <a16:creationId xmlns:a16="http://schemas.microsoft.com/office/drawing/2014/main" id="{8F66ACBD-1C82-4782-AA7C-05504DD7DE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8" y="5887411"/>
            <a:ext cx="14626742"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2019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777716"/>
            <a:ext cx="12954952" cy="1408033"/>
          </a:xfrm>
          <a:prstGeom prst="rect">
            <a:avLst/>
          </a:prstGeom>
          <a:noFill/>
          <a:ln/>
        </p:spPr>
        <p:txBody>
          <a:bodyPr wrap="square" lIns="0" tIns="0" rIns="0" bIns="0" rtlCol="0" anchor="t"/>
          <a:lstStyle/>
          <a:p>
            <a:pPr marL="0" indent="0" algn="l">
              <a:lnSpc>
                <a:spcPts val="5500"/>
              </a:lnSpc>
              <a:buNone/>
            </a:pPr>
            <a:r>
              <a:rPr lang="en-US" sz="4400" dirty="0">
                <a:latin typeface="Kanit" pitchFamily="34" charset="0"/>
                <a:ea typeface="Kanit" pitchFamily="34" charset="-122"/>
                <a:cs typeface="Kanit" pitchFamily="34" charset="-120"/>
              </a:rPr>
              <a:t>Model Selection: Traditional Machine Learning</a:t>
            </a:r>
            <a:endParaRPr lang="en-US" sz="4400" dirty="0"/>
          </a:p>
        </p:txBody>
      </p:sp>
      <p:sp>
        <p:nvSpPr>
          <p:cNvPr id="3" name="Text 1"/>
          <p:cNvSpPr/>
          <p:nvPr/>
        </p:nvSpPr>
        <p:spPr>
          <a:xfrm>
            <a:off x="837724" y="2760107"/>
            <a:ext cx="6185535" cy="1149072"/>
          </a:xfrm>
          <a:prstGeom prst="rect">
            <a:avLst/>
          </a:prstGeom>
          <a:noFill/>
          <a:ln/>
        </p:spPr>
        <p:txBody>
          <a:bodyPr wrap="square" lIns="0" tIns="0" rIns="0" bIns="0" rtlCol="0" anchor="t"/>
          <a:lstStyle/>
          <a:p>
            <a:pPr marL="0" indent="0" algn="l">
              <a:lnSpc>
                <a:spcPts val="3000"/>
              </a:lnSpc>
              <a:buNone/>
            </a:pPr>
            <a:r>
              <a:rPr lang="en-US" sz="1850" dirty="0">
                <a:latin typeface="Martel Sans Light" pitchFamily="34" charset="0"/>
                <a:ea typeface="Martel Sans Light" pitchFamily="34" charset="-122"/>
                <a:cs typeface="Martel Sans Light" pitchFamily="34" charset="-120"/>
              </a:rPr>
              <a:t>For emotion analysis, various traditional machine learning models were used for performance comparison:</a:t>
            </a:r>
            <a:endParaRPr lang="en-US" sz="1850" dirty="0"/>
          </a:p>
        </p:txBody>
      </p:sp>
      <p:sp>
        <p:nvSpPr>
          <p:cNvPr id="4" name="Text 2"/>
          <p:cNvSpPr/>
          <p:nvPr/>
        </p:nvSpPr>
        <p:spPr>
          <a:xfrm>
            <a:off x="837724" y="4124563"/>
            <a:ext cx="6185535" cy="766048"/>
          </a:xfrm>
          <a:prstGeom prst="rect">
            <a:avLst/>
          </a:prstGeom>
          <a:noFill/>
          <a:ln/>
        </p:spPr>
        <p:txBody>
          <a:bodyPr wrap="square" lIns="0" tIns="0" rIns="0" bIns="0" rtlCol="0" anchor="t"/>
          <a:lstStyle/>
          <a:p>
            <a:pPr marL="0" indent="0" algn="l">
              <a:lnSpc>
                <a:spcPts val="3000"/>
              </a:lnSpc>
              <a:buNone/>
            </a:pPr>
            <a:r>
              <a:rPr lang="en-US" sz="1850" b="1" dirty="0">
                <a:latin typeface="Martel Sans Light" pitchFamily="34" charset="0"/>
                <a:ea typeface="Martel Sans Light" pitchFamily="34" charset="-122"/>
                <a:cs typeface="Martel Sans Light" pitchFamily="34" charset="-120"/>
              </a:rPr>
              <a:t>Naïve Bayes (NB):</a:t>
            </a:r>
            <a:r>
              <a:rPr lang="en-US" sz="1850" dirty="0">
                <a:latin typeface="Martel Sans Light" pitchFamily="34" charset="0"/>
                <a:ea typeface="Martel Sans Light" pitchFamily="34" charset="-122"/>
                <a:cs typeface="Martel Sans Light" pitchFamily="34" charset="-120"/>
              </a:rPr>
              <a:t> A simple probabilistic model suitable for text classification with rich vocabulary.</a:t>
            </a:r>
            <a:endParaRPr lang="en-US" sz="1850" dirty="0"/>
          </a:p>
        </p:txBody>
      </p:sp>
      <p:sp>
        <p:nvSpPr>
          <p:cNvPr id="5" name="Text 3"/>
          <p:cNvSpPr/>
          <p:nvPr/>
        </p:nvSpPr>
        <p:spPr>
          <a:xfrm>
            <a:off x="837724" y="5105995"/>
            <a:ext cx="6185535" cy="766048"/>
          </a:xfrm>
          <a:prstGeom prst="rect">
            <a:avLst/>
          </a:prstGeom>
          <a:noFill/>
          <a:ln/>
        </p:spPr>
        <p:txBody>
          <a:bodyPr wrap="square" lIns="0" tIns="0" rIns="0" bIns="0" rtlCol="0" anchor="t"/>
          <a:lstStyle/>
          <a:p>
            <a:pPr marL="0" indent="0" algn="l">
              <a:lnSpc>
                <a:spcPts val="3000"/>
              </a:lnSpc>
              <a:buNone/>
            </a:pPr>
            <a:r>
              <a:rPr lang="en-US" sz="1850" b="1" dirty="0">
                <a:latin typeface="Martel Sans Light" pitchFamily="34" charset="0"/>
                <a:ea typeface="Martel Sans Light" pitchFamily="34" charset="-122"/>
                <a:cs typeface="Martel Sans Light" pitchFamily="34" charset="-120"/>
              </a:rPr>
              <a:t>Support Vector Machines (SVM):</a:t>
            </a:r>
            <a:r>
              <a:rPr lang="en-US" sz="1850" dirty="0">
                <a:latin typeface="Martel Sans Light" pitchFamily="34" charset="0"/>
                <a:ea typeface="Martel Sans Light" pitchFamily="34" charset="-122"/>
                <a:cs typeface="Martel Sans Light" pitchFamily="34" charset="-120"/>
              </a:rPr>
              <a:t> A powerful model in classification with large feature space.</a:t>
            </a:r>
            <a:endParaRPr lang="en-US" sz="1850" dirty="0"/>
          </a:p>
        </p:txBody>
      </p:sp>
      <p:sp>
        <p:nvSpPr>
          <p:cNvPr id="6" name="Text 4"/>
          <p:cNvSpPr/>
          <p:nvPr/>
        </p:nvSpPr>
        <p:spPr>
          <a:xfrm>
            <a:off x="837724" y="6087428"/>
            <a:ext cx="6185535" cy="1149072"/>
          </a:xfrm>
          <a:prstGeom prst="rect">
            <a:avLst/>
          </a:prstGeom>
          <a:noFill/>
          <a:ln/>
        </p:spPr>
        <p:txBody>
          <a:bodyPr wrap="square" lIns="0" tIns="0" rIns="0" bIns="0" rtlCol="0" anchor="t"/>
          <a:lstStyle/>
          <a:p>
            <a:pPr marL="0" indent="0" algn="l">
              <a:lnSpc>
                <a:spcPts val="3000"/>
              </a:lnSpc>
              <a:buNone/>
            </a:pPr>
            <a:r>
              <a:rPr lang="en-US" sz="1850" b="1" dirty="0">
                <a:latin typeface="Martel Sans Light" pitchFamily="34" charset="0"/>
                <a:ea typeface="Martel Sans Light" pitchFamily="34" charset="-122"/>
                <a:cs typeface="Martel Sans Light" pitchFamily="34" charset="-120"/>
              </a:rPr>
              <a:t>XGBoost:</a:t>
            </a:r>
            <a:r>
              <a:rPr lang="en-US" sz="1850" dirty="0">
                <a:latin typeface="Martel Sans Light" pitchFamily="34" charset="0"/>
                <a:ea typeface="Martel Sans Light" pitchFamily="34" charset="-122"/>
                <a:cs typeface="Martel Sans Light" pitchFamily="34" charset="-120"/>
              </a:rPr>
              <a:t> A modern boosting model that improves prediction performance through combining many small decision trees.</a:t>
            </a:r>
            <a:endParaRPr lang="en-US" sz="1850" dirty="0"/>
          </a:p>
        </p:txBody>
      </p:sp>
      <p:pic>
        <p:nvPicPr>
          <p:cNvPr id="1026" name="Picture 2" descr="Turkish Text Classification, A Fast, Easy and Naive Approach | by Umar Igan  | Analytics Vidhya | Medium">
            <a:extLst>
              <a:ext uri="{FF2B5EF4-FFF2-40B4-BE49-F238E27FC236}">
                <a16:creationId xmlns:a16="http://schemas.microsoft.com/office/drawing/2014/main" id="{166B93A9-DD5F-DAA0-76FD-0916DD6840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028" t="-2204" r="19806" b="-1"/>
          <a:stretch/>
        </p:blipFill>
        <p:spPr bwMode="auto">
          <a:xfrm>
            <a:off x="8244968" y="2490151"/>
            <a:ext cx="4898773" cy="46636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0C023-ECEF-13ED-7A87-F444667901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99A762-5DFE-09F9-70E5-A1B10505D9B5}"/>
              </a:ext>
            </a:extLst>
          </p:cNvPr>
          <p:cNvSpPr/>
          <p:nvPr/>
        </p:nvSpPr>
        <p:spPr>
          <a:xfrm>
            <a:off x="837724" y="777716"/>
            <a:ext cx="12954952" cy="1408033"/>
          </a:xfrm>
          <a:prstGeom prst="rect">
            <a:avLst/>
          </a:prstGeom>
          <a:noFill/>
          <a:ln/>
        </p:spPr>
        <p:txBody>
          <a:bodyPr wrap="square" lIns="0" tIns="0" rIns="0" bIns="0" rtlCol="0" anchor="t"/>
          <a:lstStyle/>
          <a:p>
            <a:pPr marL="0" indent="0" algn="l">
              <a:lnSpc>
                <a:spcPts val="5500"/>
              </a:lnSpc>
              <a:buNone/>
            </a:pPr>
            <a:r>
              <a:rPr lang="en-US" sz="4400" dirty="0">
                <a:latin typeface="Kanit" pitchFamily="34" charset="0"/>
                <a:ea typeface="Kanit" pitchFamily="34" charset="-122"/>
                <a:cs typeface="Kanit" pitchFamily="34" charset="-120"/>
              </a:rPr>
              <a:t>Model Selection: </a:t>
            </a:r>
            <a:r>
              <a:rPr lang="en-US" sz="4400" dirty="0" err="1">
                <a:latin typeface="Kanit" pitchFamily="34" charset="0"/>
                <a:ea typeface="Kanit" pitchFamily="34" charset="-122"/>
                <a:cs typeface="Kanit" pitchFamily="34" charset="-120"/>
              </a:rPr>
              <a:t>mBERT</a:t>
            </a:r>
            <a:endParaRPr lang="en-US" sz="4400" dirty="0"/>
          </a:p>
        </p:txBody>
      </p:sp>
      <p:sp>
        <p:nvSpPr>
          <p:cNvPr id="3" name="Text 1">
            <a:extLst>
              <a:ext uri="{FF2B5EF4-FFF2-40B4-BE49-F238E27FC236}">
                <a16:creationId xmlns:a16="http://schemas.microsoft.com/office/drawing/2014/main" id="{EFA8AA30-0FE5-C9A2-214B-893451647B57}"/>
              </a:ext>
            </a:extLst>
          </p:cNvPr>
          <p:cNvSpPr/>
          <p:nvPr/>
        </p:nvSpPr>
        <p:spPr>
          <a:xfrm>
            <a:off x="999089" y="2142172"/>
            <a:ext cx="11595042" cy="605500"/>
          </a:xfrm>
          <a:prstGeom prst="rect">
            <a:avLst/>
          </a:prstGeom>
          <a:noFill/>
          <a:ln/>
        </p:spPr>
        <p:txBody>
          <a:bodyPr wrap="square" lIns="0" tIns="0" rIns="0" bIns="0" rtlCol="0" anchor="t"/>
          <a:lstStyle/>
          <a:p>
            <a:pPr marL="0" indent="0" algn="l">
              <a:lnSpc>
                <a:spcPts val="3000"/>
              </a:lnSpc>
              <a:buNone/>
            </a:pPr>
            <a:r>
              <a:rPr lang="en-US" dirty="0"/>
              <a:t>We chose </a:t>
            </a:r>
            <a:r>
              <a:rPr lang="en-US" b="1" dirty="0" err="1"/>
              <a:t>mBERT</a:t>
            </a:r>
            <a:r>
              <a:rPr lang="en-US" dirty="0"/>
              <a:t> for multilingual emotion classification (English–Vietnamese) because it supports </a:t>
            </a:r>
            <a:r>
              <a:rPr lang="en-US" b="1" dirty="0"/>
              <a:t>104 languages</a:t>
            </a:r>
            <a:r>
              <a:rPr lang="en-US" dirty="0"/>
              <a:t>, performs well, and is more efficient than </a:t>
            </a:r>
            <a:r>
              <a:rPr lang="en-US" b="1" dirty="0" err="1"/>
              <a:t>LLaMa</a:t>
            </a:r>
            <a:r>
              <a:rPr lang="en-US" dirty="0"/>
              <a:t> or </a:t>
            </a:r>
            <a:r>
              <a:rPr lang="en-US" b="1" dirty="0" err="1"/>
              <a:t>DistilBERT</a:t>
            </a:r>
            <a:r>
              <a:rPr lang="en-US" dirty="0"/>
              <a:t>.</a:t>
            </a:r>
            <a:endParaRPr lang="en-US" sz="1850" dirty="0"/>
          </a:p>
        </p:txBody>
      </p:sp>
      <p:sp>
        <p:nvSpPr>
          <p:cNvPr id="4" name="Text 2">
            <a:extLst>
              <a:ext uri="{FF2B5EF4-FFF2-40B4-BE49-F238E27FC236}">
                <a16:creationId xmlns:a16="http://schemas.microsoft.com/office/drawing/2014/main" id="{B304E59A-F99B-9077-78F7-2F0566C8A7A1}"/>
              </a:ext>
            </a:extLst>
          </p:cNvPr>
          <p:cNvSpPr/>
          <p:nvPr/>
        </p:nvSpPr>
        <p:spPr>
          <a:xfrm>
            <a:off x="837724" y="4124563"/>
            <a:ext cx="6185535" cy="766048"/>
          </a:xfrm>
          <a:prstGeom prst="rect">
            <a:avLst/>
          </a:prstGeom>
          <a:noFill/>
          <a:ln/>
        </p:spPr>
        <p:txBody>
          <a:bodyPr wrap="square" lIns="0" tIns="0" rIns="0" bIns="0" rtlCol="0" anchor="t"/>
          <a:lstStyle/>
          <a:p>
            <a:pPr marL="0" indent="0" algn="l">
              <a:lnSpc>
                <a:spcPts val="3000"/>
              </a:lnSpc>
              <a:buNone/>
            </a:pPr>
            <a:endParaRPr lang="en-US" sz="1850" dirty="0"/>
          </a:p>
        </p:txBody>
      </p:sp>
      <p:sp>
        <p:nvSpPr>
          <p:cNvPr id="8" name="TextBox 7">
            <a:extLst>
              <a:ext uri="{FF2B5EF4-FFF2-40B4-BE49-F238E27FC236}">
                <a16:creationId xmlns:a16="http://schemas.microsoft.com/office/drawing/2014/main" id="{0BB204DD-BBF5-ED61-ED8A-AAA5F57023A0}"/>
              </a:ext>
            </a:extLst>
          </p:cNvPr>
          <p:cNvSpPr txBox="1"/>
          <p:nvPr/>
        </p:nvSpPr>
        <p:spPr>
          <a:xfrm>
            <a:off x="837724" y="3334871"/>
            <a:ext cx="7668501" cy="3785652"/>
          </a:xfrm>
          <a:prstGeom prst="rect">
            <a:avLst/>
          </a:prstGeom>
          <a:noFill/>
        </p:spPr>
        <p:txBody>
          <a:bodyPr wrap="square" rtlCol="0">
            <a:spAutoFit/>
          </a:bodyPr>
          <a:lstStyle/>
          <a:p>
            <a:pPr>
              <a:buNone/>
            </a:pPr>
            <a:r>
              <a:rPr lang="en-US" sz="2000" b="0" i="1" dirty="0">
                <a:solidFill>
                  <a:srgbClr val="000000"/>
                </a:solidFill>
                <a:effectLst/>
                <a:latin typeface="CMSY8"/>
              </a:rPr>
              <a:t>• </a:t>
            </a:r>
            <a:r>
              <a:rPr lang="en-US" sz="2000" b="0" i="0" dirty="0">
                <a:solidFill>
                  <a:srgbClr val="000000"/>
                </a:solidFill>
                <a:effectLst/>
                <a:latin typeface="NimbusRomNo9L-Regu"/>
              </a:rPr>
              <a:t>Encoder-based Transformer: Uses Transformer architecture with self-attention layers.</a:t>
            </a:r>
          </a:p>
          <a:p>
            <a:pPr>
              <a:buNone/>
            </a:pPr>
            <a:r>
              <a:rPr lang="en-US" sz="2000" b="0" i="1" dirty="0">
                <a:solidFill>
                  <a:srgbClr val="000000"/>
                </a:solidFill>
                <a:effectLst/>
                <a:latin typeface="CMSY8"/>
              </a:rPr>
              <a:t>• </a:t>
            </a:r>
            <a:r>
              <a:rPr lang="en-US" sz="2000" b="0" i="0" dirty="0">
                <a:solidFill>
                  <a:srgbClr val="000000"/>
                </a:solidFill>
                <a:effectLst/>
                <a:latin typeface="NimbusRomNo9L-Regu"/>
              </a:rPr>
              <a:t>Learn bilingual &amp; multilingual words: Do not use separate embedding for each language, but learn together</a:t>
            </a:r>
          </a:p>
          <a:p>
            <a:pPr>
              <a:buNone/>
            </a:pPr>
            <a:r>
              <a:rPr lang="en-US" sz="2000" b="0" i="0" dirty="0">
                <a:solidFill>
                  <a:srgbClr val="000000"/>
                </a:solidFill>
                <a:effectLst/>
                <a:latin typeface="NimbusRomNo9L-Regu"/>
              </a:rPr>
              <a:t>on multilingual data.</a:t>
            </a:r>
          </a:p>
          <a:p>
            <a:pPr>
              <a:buNone/>
            </a:pPr>
            <a:r>
              <a:rPr lang="en-US" sz="2000" b="0" i="1" dirty="0">
                <a:solidFill>
                  <a:srgbClr val="000000"/>
                </a:solidFill>
                <a:effectLst/>
                <a:latin typeface="CMSY8"/>
              </a:rPr>
              <a:t>• </a:t>
            </a:r>
            <a:r>
              <a:rPr lang="en-US" sz="2000" b="0" i="0" dirty="0">
                <a:solidFill>
                  <a:srgbClr val="000000"/>
                </a:solidFill>
                <a:effectLst/>
                <a:latin typeface="NimbusRomNo9L-Regu"/>
              </a:rPr>
              <a:t> </a:t>
            </a:r>
            <a:r>
              <a:rPr lang="en-US" sz="2000" dirty="0"/>
              <a:t>Pre-trained with MLM (predict masked words) and NSP (sentence relation)</a:t>
            </a:r>
            <a:r>
              <a:rPr lang="en-US" sz="2000" dirty="0">
                <a:solidFill>
                  <a:srgbClr val="000000"/>
                </a:solidFill>
                <a:latin typeface="NimbusRomNo9L-Regu"/>
              </a:rPr>
              <a:t>.</a:t>
            </a:r>
            <a:endParaRPr lang="en-US" sz="2000" b="0" i="0" dirty="0">
              <a:solidFill>
                <a:srgbClr val="000000"/>
              </a:solidFill>
              <a:effectLst/>
              <a:latin typeface="NimbusRomNo9L-Regu"/>
            </a:endParaRPr>
          </a:p>
          <a:p>
            <a:pPr>
              <a:buNone/>
            </a:pPr>
            <a:r>
              <a:rPr lang="en-US" sz="2000" b="0" i="1" dirty="0">
                <a:solidFill>
                  <a:srgbClr val="000000"/>
                </a:solidFill>
                <a:effectLst/>
                <a:latin typeface="CMSY8"/>
              </a:rPr>
              <a:t>• </a:t>
            </a:r>
            <a:r>
              <a:rPr lang="en-US" sz="2000" b="0" i="0" dirty="0">
                <a:solidFill>
                  <a:srgbClr val="000000"/>
                </a:solidFill>
                <a:effectLst/>
                <a:latin typeface="NimbusRomNo9L-Regu"/>
              </a:rPr>
              <a:t>Advantage: Supports multiple languages without the need for a separate model for each language.</a:t>
            </a:r>
          </a:p>
          <a:p>
            <a:pPr>
              <a:buNone/>
            </a:pPr>
            <a:r>
              <a:rPr lang="en-US" sz="2000" b="0" i="1" dirty="0">
                <a:solidFill>
                  <a:srgbClr val="000000"/>
                </a:solidFill>
                <a:effectLst/>
                <a:latin typeface="CMSY8"/>
              </a:rPr>
              <a:t>• </a:t>
            </a:r>
            <a:r>
              <a:rPr lang="en-US" sz="2000" b="0" i="0" dirty="0">
                <a:solidFill>
                  <a:srgbClr val="000000"/>
                </a:solidFill>
                <a:effectLst/>
                <a:latin typeface="NimbusRomNo9L-Regu"/>
              </a:rPr>
              <a:t>Disadvantages: May be inferior to monolingual models on each specific language.</a:t>
            </a:r>
            <a:r>
              <a:rPr lang="en-US" sz="2000" dirty="0"/>
              <a:t> </a:t>
            </a:r>
            <a:br>
              <a:rPr lang="en-US" sz="2000" dirty="0"/>
            </a:br>
            <a:endParaRPr lang="en-US" sz="2000" dirty="0"/>
          </a:p>
        </p:txBody>
      </p:sp>
      <p:pic>
        <p:nvPicPr>
          <p:cNvPr id="10" name="Picture 9">
            <a:extLst>
              <a:ext uri="{FF2B5EF4-FFF2-40B4-BE49-F238E27FC236}">
                <a16:creationId xmlns:a16="http://schemas.microsoft.com/office/drawing/2014/main" id="{6B9729B0-692B-1419-C749-4D2D0C4972AF}"/>
              </a:ext>
            </a:extLst>
          </p:cNvPr>
          <p:cNvPicPr>
            <a:picLocks noChangeAspect="1"/>
          </p:cNvPicPr>
          <p:nvPr/>
        </p:nvPicPr>
        <p:blipFill>
          <a:blip r:embed="rId3"/>
          <a:stretch>
            <a:fillRect/>
          </a:stretch>
        </p:blipFill>
        <p:spPr>
          <a:xfrm>
            <a:off x="9822499" y="2747672"/>
            <a:ext cx="3252041" cy="3722284"/>
          </a:xfrm>
          <a:prstGeom prst="rect">
            <a:avLst/>
          </a:prstGeom>
        </p:spPr>
      </p:pic>
      <p:sp>
        <p:nvSpPr>
          <p:cNvPr id="11" name="TextBox 10">
            <a:extLst>
              <a:ext uri="{FF2B5EF4-FFF2-40B4-BE49-F238E27FC236}">
                <a16:creationId xmlns:a16="http://schemas.microsoft.com/office/drawing/2014/main" id="{8419159B-0FAA-F7E7-F5ED-7A6E9AA7C685}"/>
              </a:ext>
            </a:extLst>
          </p:cNvPr>
          <p:cNvSpPr txBox="1"/>
          <p:nvPr/>
        </p:nvSpPr>
        <p:spPr>
          <a:xfrm>
            <a:off x="9822499" y="6715846"/>
            <a:ext cx="3456435" cy="415498"/>
          </a:xfrm>
          <a:prstGeom prst="rect">
            <a:avLst/>
          </a:prstGeom>
          <a:noFill/>
        </p:spPr>
        <p:txBody>
          <a:bodyPr wrap="square" rtlCol="0">
            <a:spAutoFit/>
          </a:bodyPr>
          <a:lstStyle/>
          <a:p>
            <a:r>
              <a:rPr lang="en-US" sz="1050" b="0" i="0" dirty="0">
                <a:solidFill>
                  <a:srgbClr val="000000"/>
                </a:solidFill>
                <a:effectLst/>
                <a:latin typeface="NimbusRomNo9L-Regu"/>
              </a:rPr>
              <a:t>Multilingual BERT (</a:t>
            </a:r>
            <a:r>
              <a:rPr lang="en-US" sz="1050" b="0" i="0" dirty="0" err="1">
                <a:solidFill>
                  <a:srgbClr val="000000"/>
                </a:solidFill>
                <a:effectLst/>
                <a:latin typeface="NimbusRomNo9L-Regu"/>
              </a:rPr>
              <a:t>mBERT</a:t>
            </a:r>
            <a:r>
              <a:rPr lang="en-US" sz="1050" b="0" i="0" dirty="0">
                <a:solidFill>
                  <a:srgbClr val="000000"/>
                </a:solidFill>
                <a:effectLst/>
                <a:latin typeface="NimbusRomNo9L-Regu"/>
              </a:rPr>
              <a:t>) model by Md. Akram Hossain.</a:t>
            </a:r>
            <a:r>
              <a:rPr lang="en-US" sz="1050" dirty="0"/>
              <a:t> </a:t>
            </a:r>
            <a:br>
              <a:rPr lang="en-US" sz="1050" dirty="0"/>
            </a:br>
            <a:endParaRPr lang="en-US" sz="1050" dirty="0"/>
          </a:p>
        </p:txBody>
      </p:sp>
    </p:spTree>
    <p:extLst>
      <p:ext uri="{BB962C8B-B14F-4D97-AF65-F5344CB8AC3E}">
        <p14:creationId xmlns:p14="http://schemas.microsoft.com/office/powerpoint/2010/main" val="42543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C95B-D7D9-BAA1-0AD5-DE5BC03749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7AC0C5-5C45-D04D-CF6A-32D6BE56F16B}"/>
              </a:ext>
            </a:extLst>
          </p:cNvPr>
          <p:cNvSpPr/>
          <p:nvPr/>
        </p:nvSpPr>
        <p:spPr>
          <a:xfrm>
            <a:off x="791647" y="803077"/>
            <a:ext cx="13047107" cy="1330404"/>
          </a:xfrm>
          <a:prstGeom prst="rect">
            <a:avLst/>
          </a:prstGeom>
          <a:noFill/>
          <a:ln/>
        </p:spPr>
        <p:txBody>
          <a:bodyPr wrap="square" lIns="0" tIns="0" rIns="0" bIns="0" rtlCol="0" anchor="t"/>
          <a:lstStyle/>
          <a:p>
            <a:pPr marL="0" indent="0" algn="l">
              <a:lnSpc>
                <a:spcPts val="5200"/>
              </a:lnSpc>
              <a:buNone/>
            </a:pPr>
            <a:r>
              <a:rPr lang="en-US" sz="4150" dirty="0">
                <a:latin typeface="Kanit" pitchFamily="34" charset="0"/>
                <a:ea typeface="Kanit" pitchFamily="34" charset="-122"/>
                <a:cs typeface="Kanit" pitchFamily="34" charset="-120"/>
              </a:rPr>
              <a:t>Experimental Results and Discussion: Performance Comparison BETWEEN ENGLISH AND VIETNAMESE</a:t>
            </a:r>
            <a:endParaRPr lang="en-US" sz="4150" dirty="0"/>
          </a:p>
        </p:txBody>
      </p:sp>
      <p:sp>
        <p:nvSpPr>
          <p:cNvPr id="3" name="Text 1">
            <a:extLst>
              <a:ext uri="{FF2B5EF4-FFF2-40B4-BE49-F238E27FC236}">
                <a16:creationId xmlns:a16="http://schemas.microsoft.com/office/drawing/2014/main" id="{14B7798C-8DCA-E3BD-1772-B96D56273DA3}"/>
              </a:ext>
            </a:extLst>
          </p:cNvPr>
          <p:cNvSpPr/>
          <p:nvPr/>
        </p:nvSpPr>
        <p:spPr>
          <a:xfrm>
            <a:off x="923155" y="6587739"/>
            <a:ext cx="13631284" cy="886117"/>
          </a:xfrm>
          <a:prstGeom prst="rect">
            <a:avLst/>
          </a:prstGeom>
          <a:noFill/>
          <a:ln/>
        </p:spPr>
        <p:txBody>
          <a:bodyPr wrap="square" lIns="0" tIns="0" rIns="0" bIns="0" rtlCol="0" anchor="t"/>
          <a:lstStyle/>
          <a:p>
            <a:pPr>
              <a:buNone/>
            </a:pPr>
            <a:r>
              <a:rPr lang="en-US" sz="1800" b="1" i="0" dirty="0">
                <a:solidFill>
                  <a:srgbClr val="000000"/>
                </a:solidFill>
                <a:effectLst/>
                <a:latin typeface="NimbusRomNo9L-Medi"/>
              </a:rPr>
              <a:t>– </a:t>
            </a:r>
            <a:r>
              <a:rPr lang="en-US" sz="1800" b="0" i="0" dirty="0">
                <a:solidFill>
                  <a:srgbClr val="000000"/>
                </a:solidFill>
                <a:effectLst/>
                <a:latin typeface="NimbusRomNo9L-Regu"/>
              </a:rPr>
              <a:t>SVM works better on English than on Vietnamese.</a:t>
            </a:r>
          </a:p>
          <a:p>
            <a:pPr>
              <a:buNone/>
            </a:pPr>
            <a:r>
              <a:rPr lang="en-US" sz="1800" b="1" i="0" dirty="0">
                <a:solidFill>
                  <a:srgbClr val="000000"/>
                </a:solidFill>
                <a:effectLst/>
                <a:latin typeface="NimbusRomNo9L-Medi"/>
              </a:rPr>
              <a:t>– </a:t>
            </a:r>
            <a:r>
              <a:rPr lang="en-US" sz="1800" b="0" i="0" dirty="0">
                <a:solidFill>
                  <a:srgbClr val="000000"/>
                </a:solidFill>
                <a:effectLst/>
                <a:latin typeface="NimbusRomNo9L-Regu"/>
              </a:rPr>
              <a:t>Combining two languages does not help the model improve accuracy but also reduces the recall of classes</a:t>
            </a:r>
          </a:p>
          <a:p>
            <a:pPr>
              <a:buNone/>
            </a:pPr>
            <a:r>
              <a:rPr lang="en-US" sz="1800" b="0" i="0" dirty="0">
                <a:solidFill>
                  <a:srgbClr val="000000"/>
                </a:solidFill>
                <a:effectLst/>
                <a:latin typeface="NimbusRomNo9L-Regu"/>
              </a:rPr>
              <a:t>from 1 to 4 stars.</a:t>
            </a:r>
            <a:r>
              <a:rPr lang="en-US" sz="1600" dirty="0"/>
              <a:t> </a:t>
            </a:r>
            <a:endParaRPr lang="en-US" sz="1750" dirty="0"/>
          </a:p>
        </p:txBody>
      </p:sp>
      <p:pic>
        <p:nvPicPr>
          <p:cNvPr id="7" name="Picture 6">
            <a:extLst>
              <a:ext uri="{FF2B5EF4-FFF2-40B4-BE49-F238E27FC236}">
                <a16:creationId xmlns:a16="http://schemas.microsoft.com/office/drawing/2014/main" id="{E924F0C8-62FD-6526-D25B-644C01D51ECA}"/>
              </a:ext>
            </a:extLst>
          </p:cNvPr>
          <p:cNvPicPr>
            <a:picLocks noChangeAspect="1"/>
          </p:cNvPicPr>
          <p:nvPr/>
        </p:nvPicPr>
        <p:blipFill>
          <a:blip r:embed="rId3"/>
          <a:stretch>
            <a:fillRect/>
          </a:stretch>
        </p:blipFill>
        <p:spPr>
          <a:xfrm>
            <a:off x="2038351" y="2243235"/>
            <a:ext cx="4457700" cy="3646545"/>
          </a:xfrm>
          <a:prstGeom prst="rect">
            <a:avLst/>
          </a:prstGeom>
        </p:spPr>
      </p:pic>
      <p:pic>
        <p:nvPicPr>
          <p:cNvPr id="9" name="Picture 8">
            <a:extLst>
              <a:ext uri="{FF2B5EF4-FFF2-40B4-BE49-F238E27FC236}">
                <a16:creationId xmlns:a16="http://schemas.microsoft.com/office/drawing/2014/main" id="{DCB3139E-5EC7-3E4A-7337-766390D8073F}"/>
              </a:ext>
            </a:extLst>
          </p:cNvPr>
          <p:cNvPicPr>
            <a:picLocks noChangeAspect="1"/>
          </p:cNvPicPr>
          <p:nvPr/>
        </p:nvPicPr>
        <p:blipFill>
          <a:blip r:embed="rId4"/>
          <a:stretch>
            <a:fillRect/>
          </a:stretch>
        </p:blipFill>
        <p:spPr>
          <a:xfrm>
            <a:off x="7500939" y="2243235"/>
            <a:ext cx="4586287" cy="3598912"/>
          </a:xfrm>
          <a:prstGeom prst="rect">
            <a:avLst/>
          </a:prstGeom>
        </p:spPr>
      </p:pic>
      <p:sp>
        <p:nvSpPr>
          <p:cNvPr id="10" name="TextBox 9">
            <a:extLst>
              <a:ext uri="{FF2B5EF4-FFF2-40B4-BE49-F238E27FC236}">
                <a16:creationId xmlns:a16="http://schemas.microsoft.com/office/drawing/2014/main" id="{8598F1AA-2176-33F7-3381-D3095E8A29B7}"/>
              </a:ext>
            </a:extLst>
          </p:cNvPr>
          <p:cNvSpPr txBox="1"/>
          <p:nvPr/>
        </p:nvSpPr>
        <p:spPr>
          <a:xfrm>
            <a:off x="7839076" y="6033741"/>
            <a:ext cx="4248150" cy="553998"/>
          </a:xfrm>
          <a:prstGeom prst="rect">
            <a:avLst/>
          </a:prstGeom>
          <a:noFill/>
        </p:spPr>
        <p:txBody>
          <a:bodyPr wrap="square" rtlCol="0">
            <a:spAutoFit/>
          </a:bodyPr>
          <a:lstStyle/>
          <a:p>
            <a:r>
              <a:rPr lang="en-US" sz="1500" b="0" i="0" dirty="0">
                <a:solidFill>
                  <a:srgbClr val="000000"/>
                </a:solidFill>
                <a:effectLst/>
                <a:latin typeface="NimbusRomNo9L-Regu"/>
              </a:rPr>
              <a:t>Classification Report Model SVM With English</a:t>
            </a:r>
            <a:r>
              <a:rPr lang="en-US" sz="1500" dirty="0"/>
              <a:t> </a:t>
            </a:r>
            <a:br>
              <a:rPr lang="en-US" sz="1500" dirty="0"/>
            </a:br>
            <a:endParaRPr lang="en-US" sz="1500" dirty="0"/>
          </a:p>
        </p:txBody>
      </p:sp>
      <p:sp>
        <p:nvSpPr>
          <p:cNvPr id="11" name="TextBox 10">
            <a:extLst>
              <a:ext uri="{FF2B5EF4-FFF2-40B4-BE49-F238E27FC236}">
                <a16:creationId xmlns:a16="http://schemas.microsoft.com/office/drawing/2014/main" id="{72C15550-E14E-E288-0B39-2FBC65FF9E98}"/>
              </a:ext>
            </a:extLst>
          </p:cNvPr>
          <p:cNvSpPr txBox="1"/>
          <p:nvPr/>
        </p:nvSpPr>
        <p:spPr>
          <a:xfrm>
            <a:off x="2143125" y="6096863"/>
            <a:ext cx="4248151" cy="553998"/>
          </a:xfrm>
          <a:prstGeom prst="rect">
            <a:avLst/>
          </a:prstGeom>
          <a:noFill/>
        </p:spPr>
        <p:txBody>
          <a:bodyPr wrap="square" rtlCol="0">
            <a:spAutoFit/>
          </a:bodyPr>
          <a:lstStyle/>
          <a:p>
            <a:r>
              <a:rPr lang="en-US" sz="1500" b="0" i="0" dirty="0">
                <a:solidFill>
                  <a:srgbClr val="000000"/>
                </a:solidFill>
                <a:effectLst/>
                <a:latin typeface="NimbusRomNo9L-Regu"/>
              </a:rPr>
              <a:t>Classification Report Model SVM With Vietnamese.</a:t>
            </a:r>
            <a:r>
              <a:rPr lang="en-US" sz="1500" dirty="0"/>
              <a:t> </a:t>
            </a:r>
            <a:br>
              <a:rPr lang="en-US" sz="1500" dirty="0"/>
            </a:br>
            <a:endParaRPr lang="en-US" sz="1500" dirty="0"/>
          </a:p>
        </p:txBody>
      </p:sp>
    </p:spTree>
    <p:extLst>
      <p:ext uri="{BB962C8B-B14F-4D97-AF65-F5344CB8AC3E}">
        <p14:creationId xmlns:p14="http://schemas.microsoft.com/office/powerpoint/2010/main" val="394859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33513F-578C-4B6E-C994-87BA6E2D4D63}"/>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5F54226A-15A5-4F46-926F-81F3EC466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 y="7680960"/>
            <a:ext cx="1462659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CFCF670F-3E94-4C8F-95AE-035FB45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26590" cy="768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2" name="Straight Connector 41">
            <a:extLst>
              <a:ext uri="{FF2B5EF4-FFF2-40B4-BE49-F238E27FC236}">
                <a16:creationId xmlns:a16="http://schemas.microsoft.com/office/drawing/2014/main" id="{90479AEA-6C87-4786-A668-54BF815A7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9189" y="5212080"/>
            <a:ext cx="1185062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3" name="Rectangle 42">
            <a:extLst>
              <a:ext uri="{FF2B5EF4-FFF2-40B4-BE49-F238E27FC236}">
                <a16:creationId xmlns:a16="http://schemas.microsoft.com/office/drawing/2014/main" id="{0C75B684-0B84-4920-979E-096FB4584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1" cy="7601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C53CC208-E46C-B7AA-8A14-46A123E44147}"/>
              </a:ext>
            </a:extLst>
          </p:cNvPr>
          <p:cNvSpPr/>
          <p:nvPr/>
        </p:nvSpPr>
        <p:spPr>
          <a:xfrm>
            <a:off x="8076000" y="766916"/>
            <a:ext cx="5775686" cy="4423218"/>
          </a:xfrm>
          <a:prstGeom prst="rect">
            <a:avLst/>
          </a:prstGeom>
        </p:spPr>
        <p:txBody>
          <a:bodyPr vert="horz" lIns="91440" tIns="45720" rIns="91440" bIns="45720" rtlCol="0" anchor="b">
            <a:normAutofit/>
          </a:bodyPr>
          <a:lstStyle/>
          <a:p>
            <a:pPr marL="0" indent="0" defTabSz="914400">
              <a:lnSpc>
                <a:spcPct val="85000"/>
              </a:lnSpc>
              <a:spcBef>
                <a:spcPct val="0"/>
              </a:spcBef>
              <a:spcAft>
                <a:spcPts val="600"/>
              </a:spcAft>
            </a:pPr>
            <a:r>
              <a:rPr lang="en-US" sz="6000" spc="-50">
                <a:solidFill>
                  <a:schemeClr val="tx1">
                    <a:lumMod val="85000"/>
                    <a:lumOff val="15000"/>
                  </a:schemeClr>
                </a:solidFill>
                <a:latin typeface="+mj-lt"/>
                <a:ea typeface="+mj-ea"/>
                <a:cs typeface="+mj-cs"/>
              </a:rPr>
              <a:t>Experimental Results and Discussion: Performance Comparison</a:t>
            </a:r>
          </a:p>
        </p:txBody>
      </p:sp>
      <p:sp>
        <p:nvSpPr>
          <p:cNvPr id="44" name="Rectangle 43">
            <a:extLst>
              <a:ext uri="{FF2B5EF4-FFF2-40B4-BE49-F238E27FC236}">
                <a16:creationId xmlns:a16="http://schemas.microsoft.com/office/drawing/2014/main" id="{AC336997-1B90-44EB-ADD7-B55CAA368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6079" y="386079"/>
            <a:ext cx="3669487" cy="4089885"/>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85B57CE-9D22-809B-C59D-CED917D023E6}"/>
              </a:ext>
            </a:extLst>
          </p:cNvPr>
          <p:cNvPicPr>
            <a:picLocks noChangeAspect="1"/>
          </p:cNvPicPr>
          <p:nvPr/>
        </p:nvPicPr>
        <p:blipFill>
          <a:blip r:embed="rId3"/>
          <a:stretch>
            <a:fillRect/>
          </a:stretch>
        </p:blipFill>
        <p:spPr>
          <a:xfrm>
            <a:off x="553268" y="1277652"/>
            <a:ext cx="3341640" cy="2522937"/>
          </a:xfrm>
          <a:prstGeom prst="rect">
            <a:avLst/>
          </a:prstGeom>
        </p:spPr>
      </p:pic>
      <p:sp>
        <p:nvSpPr>
          <p:cNvPr id="45" name="Rectangle 44">
            <a:extLst>
              <a:ext uri="{FF2B5EF4-FFF2-40B4-BE49-F238E27FC236}">
                <a16:creationId xmlns:a16="http://schemas.microsoft.com/office/drawing/2014/main" id="{7886323F-63FC-4100-A0DE-82486E0E0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4305" y="386080"/>
            <a:ext cx="3080893" cy="2346300"/>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32E743A-E3C9-7B38-27D0-BEF6452A9F51}"/>
              </a:ext>
            </a:extLst>
          </p:cNvPr>
          <p:cNvPicPr>
            <a:picLocks noChangeAspect="1"/>
          </p:cNvPicPr>
          <p:nvPr/>
        </p:nvPicPr>
        <p:blipFill>
          <a:blip r:embed="rId4"/>
          <a:stretch>
            <a:fillRect/>
          </a:stretch>
        </p:blipFill>
        <p:spPr>
          <a:xfrm>
            <a:off x="4397702" y="668720"/>
            <a:ext cx="2746422" cy="2004888"/>
          </a:xfrm>
          <a:prstGeom prst="rect">
            <a:avLst/>
          </a:prstGeom>
        </p:spPr>
      </p:pic>
      <p:sp>
        <p:nvSpPr>
          <p:cNvPr id="46" name="Rectangle 45">
            <a:extLst>
              <a:ext uri="{FF2B5EF4-FFF2-40B4-BE49-F238E27FC236}">
                <a16:creationId xmlns:a16="http://schemas.microsoft.com/office/drawing/2014/main" id="{D8B19D67-02C1-494A-86ED-244E2D4CC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6079" y="4676864"/>
            <a:ext cx="3669487" cy="2503670"/>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DE8C3E9-3774-A0AC-D7FA-D2178144AA46}"/>
              </a:ext>
            </a:extLst>
          </p:cNvPr>
          <p:cNvPicPr>
            <a:picLocks noChangeAspect="1"/>
          </p:cNvPicPr>
          <p:nvPr/>
        </p:nvPicPr>
        <p:blipFill>
          <a:blip r:embed="rId5"/>
          <a:stretch>
            <a:fillRect/>
          </a:stretch>
        </p:blipFill>
        <p:spPr>
          <a:xfrm>
            <a:off x="735030" y="4862044"/>
            <a:ext cx="2958475" cy="2137498"/>
          </a:xfrm>
          <a:prstGeom prst="rect">
            <a:avLst/>
          </a:prstGeom>
        </p:spPr>
      </p:pic>
      <p:sp>
        <p:nvSpPr>
          <p:cNvPr id="47" name="Rectangle 46">
            <a:extLst>
              <a:ext uri="{FF2B5EF4-FFF2-40B4-BE49-F238E27FC236}">
                <a16:creationId xmlns:a16="http://schemas.microsoft.com/office/drawing/2014/main" id="{649E456D-8316-4C5A-B4F3-7DA1E13D0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4305" y="2941216"/>
            <a:ext cx="3080893" cy="4239318"/>
          </a:xfrm>
          <a:prstGeom prst="rect">
            <a:avLst/>
          </a:prstGeom>
          <a:solidFill>
            <a:srgbClr val="FFFFFF"/>
          </a:solidFill>
          <a:ln w="6350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87EBB6D7-6BC9-8F2D-82AE-ED2E8680FE3B}"/>
              </a:ext>
            </a:extLst>
          </p:cNvPr>
          <p:cNvPicPr>
            <a:picLocks noChangeAspect="1"/>
          </p:cNvPicPr>
          <p:nvPr/>
        </p:nvPicPr>
        <p:blipFill>
          <a:blip r:embed="rId6"/>
          <a:stretch>
            <a:fillRect/>
          </a:stretch>
        </p:blipFill>
        <p:spPr>
          <a:xfrm>
            <a:off x="4397702" y="3914482"/>
            <a:ext cx="2754098" cy="2292786"/>
          </a:xfrm>
          <a:prstGeom prst="rect">
            <a:avLst/>
          </a:prstGeom>
        </p:spPr>
      </p:pic>
      <p:cxnSp>
        <p:nvCxnSpPr>
          <p:cNvPr id="48" name="Straight Connector 47">
            <a:extLst>
              <a:ext uri="{FF2B5EF4-FFF2-40B4-BE49-F238E27FC236}">
                <a16:creationId xmlns:a16="http://schemas.microsoft.com/office/drawing/2014/main" id="{E7ED7221-BBA6-4CD0-A36B-A1FF67F7F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66063" y="5212080"/>
            <a:ext cx="5266944"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DB5A7164-399D-4F28-989C-442961B3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 y="7601179"/>
            <a:ext cx="14630382" cy="7978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2E024D85-0C22-4FAB-9D86-254991361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80960"/>
            <a:ext cx="14630400"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8A26FE13-4969-B636-1623-3C642782F5E3}"/>
              </a:ext>
            </a:extLst>
          </p:cNvPr>
          <p:cNvPicPr>
            <a:picLocks noChangeAspect="1"/>
          </p:cNvPicPr>
          <p:nvPr/>
        </p:nvPicPr>
        <p:blipFill>
          <a:blip r:embed="rId7"/>
          <a:stretch>
            <a:fillRect/>
          </a:stretch>
        </p:blipFill>
        <p:spPr>
          <a:xfrm>
            <a:off x="4312147" y="389943"/>
            <a:ext cx="2925208" cy="1893354"/>
          </a:xfrm>
          <a:prstGeom prst="rect">
            <a:avLst/>
          </a:prstGeom>
        </p:spPr>
      </p:pic>
      <p:pic>
        <p:nvPicPr>
          <p:cNvPr id="18" name="Picture 17">
            <a:extLst>
              <a:ext uri="{FF2B5EF4-FFF2-40B4-BE49-F238E27FC236}">
                <a16:creationId xmlns:a16="http://schemas.microsoft.com/office/drawing/2014/main" id="{F4C5E1AB-BE10-7F06-B4EA-85912B49774E}"/>
              </a:ext>
            </a:extLst>
          </p:cNvPr>
          <p:cNvPicPr>
            <a:picLocks noChangeAspect="1"/>
          </p:cNvPicPr>
          <p:nvPr/>
        </p:nvPicPr>
        <p:blipFill>
          <a:blip r:embed="rId8"/>
          <a:stretch>
            <a:fillRect/>
          </a:stretch>
        </p:blipFill>
        <p:spPr>
          <a:xfrm>
            <a:off x="4243859" y="3517840"/>
            <a:ext cx="3048425" cy="2353003"/>
          </a:xfrm>
          <a:prstGeom prst="rect">
            <a:avLst/>
          </a:prstGeom>
        </p:spPr>
      </p:pic>
    </p:spTree>
    <p:extLst>
      <p:ext uri="{BB962C8B-B14F-4D97-AF65-F5344CB8AC3E}">
        <p14:creationId xmlns:p14="http://schemas.microsoft.com/office/powerpoint/2010/main" val="2824754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1647" y="803077"/>
            <a:ext cx="13047107" cy="1330404"/>
          </a:xfrm>
          <a:prstGeom prst="rect">
            <a:avLst/>
          </a:prstGeom>
          <a:noFill/>
          <a:ln/>
        </p:spPr>
        <p:txBody>
          <a:bodyPr wrap="square" lIns="0" tIns="0" rIns="0" bIns="0" rtlCol="0" anchor="t"/>
          <a:lstStyle/>
          <a:p>
            <a:pPr marL="0" indent="0" algn="l">
              <a:lnSpc>
                <a:spcPts val="5200"/>
              </a:lnSpc>
              <a:buNone/>
            </a:pPr>
            <a:r>
              <a:rPr lang="en-US" sz="4150" dirty="0">
                <a:latin typeface="Kanit" pitchFamily="34" charset="0"/>
                <a:ea typeface="Kanit" pitchFamily="34" charset="-122"/>
                <a:cs typeface="Kanit" pitchFamily="34" charset="-120"/>
              </a:rPr>
              <a:t>Experimental Results and Discussion: Performance Comparison</a:t>
            </a:r>
            <a:endParaRPr lang="en-US" sz="4150" dirty="0"/>
          </a:p>
        </p:txBody>
      </p:sp>
      <p:sp>
        <p:nvSpPr>
          <p:cNvPr id="3" name="Text 1"/>
          <p:cNvSpPr/>
          <p:nvPr/>
        </p:nvSpPr>
        <p:spPr>
          <a:xfrm>
            <a:off x="791647" y="2676168"/>
            <a:ext cx="6247686" cy="2171700"/>
          </a:xfrm>
          <a:prstGeom prst="rect">
            <a:avLst/>
          </a:prstGeom>
          <a:noFill/>
          <a:ln/>
        </p:spPr>
        <p:txBody>
          <a:bodyPr wrap="square" lIns="0" tIns="0" rIns="0" bIns="0" rtlCol="0" anchor="t"/>
          <a:lstStyle/>
          <a:p>
            <a:pPr marL="0" indent="0" algn="l">
              <a:lnSpc>
                <a:spcPts val="2800"/>
              </a:lnSpc>
              <a:buNone/>
            </a:pPr>
            <a:r>
              <a:rPr lang="en-US" sz="1750" b="1" dirty="0">
                <a:latin typeface="Martel Sans Light" pitchFamily="34" charset="0"/>
                <a:ea typeface="Martel Sans Light" pitchFamily="34" charset="-122"/>
                <a:cs typeface="Martel Sans Light" pitchFamily="34" charset="-120"/>
              </a:rPr>
              <a:t>Performance Comparison:</a:t>
            </a:r>
            <a:r>
              <a:rPr lang="en-US" sz="1750" dirty="0">
                <a:latin typeface="Martel Sans Light" pitchFamily="34" charset="0"/>
                <a:ea typeface="Martel Sans Light" pitchFamily="34" charset="-122"/>
                <a:cs typeface="Martel Sans Light" pitchFamily="34" charset="-120"/>
              </a:rPr>
              <a:t> SVM is the best model overall, with the highest accuracy and best F1-score. XGBoost has performance close to SVM but recall in some classes is still not high. Naïve Bayes has the lowest accuracy, due to extremely low recall in difficult classes, especially 1-star classes.</a:t>
            </a:r>
            <a:endParaRPr lang="en-US" sz="1750" dirty="0"/>
          </a:p>
        </p:txBody>
      </p:sp>
      <p:sp>
        <p:nvSpPr>
          <p:cNvPr id="4" name="Text 2"/>
          <p:cNvSpPr/>
          <p:nvPr/>
        </p:nvSpPr>
        <p:spPr>
          <a:xfrm>
            <a:off x="791647" y="5051346"/>
            <a:ext cx="6247686" cy="2171700"/>
          </a:xfrm>
          <a:prstGeom prst="rect">
            <a:avLst/>
          </a:prstGeom>
          <a:noFill/>
          <a:ln/>
        </p:spPr>
        <p:txBody>
          <a:bodyPr wrap="square" lIns="0" tIns="0" rIns="0" bIns="0" rtlCol="0" anchor="t"/>
          <a:lstStyle/>
          <a:p>
            <a:pPr marL="0" indent="0" algn="l">
              <a:lnSpc>
                <a:spcPts val="2800"/>
              </a:lnSpc>
              <a:buNone/>
            </a:pPr>
            <a:r>
              <a:rPr lang="en-US" sz="1750" b="1" dirty="0">
                <a:latin typeface="Martel Sans Light" pitchFamily="34" charset="0"/>
                <a:ea typeface="Martel Sans Light" pitchFamily="34" charset="-122"/>
                <a:cs typeface="Martel Sans Light" pitchFamily="34" charset="-120"/>
              </a:rPr>
              <a:t>SVM vs. mBERT:</a:t>
            </a:r>
            <a:r>
              <a:rPr lang="en-US" sz="1750" dirty="0">
                <a:latin typeface="Martel Sans Light" pitchFamily="34" charset="0"/>
                <a:ea typeface="Martel Sans Light" pitchFamily="34" charset="-122"/>
                <a:cs typeface="Martel Sans Light" pitchFamily="34" charset="-120"/>
              </a:rPr>
              <a:t> mBert has average recall of classes from 1 to 4 stars, helping the model classify underestimation better. SVM has a higher 5-star recall class, meaning the model tends to predict 5 stars more. Accuracy of SVM is slightly better than mBERT but not significantly mBERT tends to ignore 2-star classes quite a bit.</a:t>
            </a:r>
            <a:endParaRPr lang="en-US" sz="1750" dirty="0"/>
          </a:p>
        </p:txBody>
      </p:sp>
      <p:pic>
        <p:nvPicPr>
          <p:cNvPr id="7" name="Picture 6">
            <a:extLst>
              <a:ext uri="{FF2B5EF4-FFF2-40B4-BE49-F238E27FC236}">
                <a16:creationId xmlns:a16="http://schemas.microsoft.com/office/drawing/2014/main" id="{E6723DBE-8757-47BE-03AC-CDB4DB348ED5}"/>
              </a:ext>
            </a:extLst>
          </p:cNvPr>
          <p:cNvPicPr>
            <a:picLocks noChangeAspect="1"/>
          </p:cNvPicPr>
          <p:nvPr/>
        </p:nvPicPr>
        <p:blipFill>
          <a:blip r:embed="rId3"/>
          <a:stretch>
            <a:fillRect/>
          </a:stretch>
        </p:blipFill>
        <p:spPr>
          <a:xfrm>
            <a:off x="7248525" y="2740283"/>
            <a:ext cx="6708776" cy="42151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181576"/>
            <a:ext cx="7468553" cy="1408033"/>
          </a:xfrm>
          <a:prstGeom prst="rect">
            <a:avLst/>
          </a:prstGeom>
          <a:noFill/>
          <a:ln/>
        </p:spPr>
        <p:txBody>
          <a:bodyPr wrap="square" lIns="0" tIns="0" rIns="0" bIns="0" rtlCol="0" anchor="t"/>
          <a:lstStyle/>
          <a:p>
            <a:pPr marL="0" indent="0" algn="l">
              <a:lnSpc>
                <a:spcPts val="5500"/>
              </a:lnSpc>
              <a:buNone/>
            </a:pPr>
            <a:r>
              <a:rPr lang="en-US" sz="4400" dirty="0">
                <a:latin typeface="Kanit" pitchFamily="34" charset="0"/>
                <a:ea typeface="Kanit" pitchFamily="34" charset="-122"/>
                <a:cs typeface="Kanit" pitchFamily="34" charset="-120"/>
              </a:rPr>
              <a:t>Conclusions and Future Directions</a:t>
            </a:r>
            <a:endParaRPr lang="en-US" sz="4400" dirty="0"/>
          </a:p>
        </p:txBody>
      </p:sp>
      <p:sp>
        <p:nvSpPr>
          <p:cNvPr id="4" name="Text 1"/>
          <p:cNvSpPr/>
          <p:nvPr/>
        </p:nvSpPr>
        <p:spPr>
          <a:xfrm>
            <a:off x="837724" y="2948583"/>
            <a:ext cx="7468553" cy="1915120"/>
          </a:xfrm>
          <a:prstGeom prst="rect">
            <a:avLst/>
          </a:prstGeom>
          <a:noFill/>
          <a:ln/>
        </p:spPr>
        <p:txBody>
          <a:bodyPr wrap="square" lIns="0" tIns="0" rIns="0" bIns="0" rtlCol="0" anchor="t"/>
          <a:lstStyle/>
          <a:p>
            <a:pPr marL="0" indent="0" algn="l">
              <a:lnSpc>
                <a:spcPts val="3000"/>
              </a:lnSpc>
              <a:buNone/>
            </a:pPr>
            <a:r>
              <a:rPr lang="en-US" sz="1850" dirty="0">
                <a:latin typeface="Martel Sans Light" pitchFamily="34" charset="0"/>
                <a:ea typeface="Martel Sans Light" pitchFamily="34" charset="-122"/>
                <a:cs typeface="Martel Sans Light" pitchFamily="34" charset="-120"/>
              </a:rPr>
              <a:t>This study compared SVM, Naïve Bayes, XGBoost, and mBert for classifying emotional intensity based on product reviews in Vietnamese and English. Results showed that English is easier to process than Vietnamese, and SVM outperformed mBERT for low ratings. However, imbalanced data hindered performance.</a:t>
            </a:r>
            <a:endParaRPr lang="en-US" sz="1850" dirty="0"/>
          </a:p>
        </p:txBody>
      </p:sp>
      <p:sp>
        <p:nvSpPr>
          <p:cNvPr id="5" name="Text 2"/>
          <p:cNvSpPr/>
          <p:nvPr/>
        </p:nvSpPr>
        <p:spPr>
          <a:xfrm>
            <a:off x="837724" y="5132903"/>
            <a:ext cx="7468553" cy="1915120"/>
          </a:xfrm>
          <a:prstGeom prst="rect">
            <a:avLst/>
          </a:prstGeom>
          <a:noFill/>
          <a:ln/>
        </p:spPr>
        <p:txBody>
          <a:bodyPr wrap="square" lIns="0" tIns="0" rIns="0" bIns="0" rtlCol="0" anchor="t"/>
          <a:lstStyle/>
          <a:p>
            <a:pPr marL="0" indent="0" algn="l">
              <a:lnSpc>
                <a:spcPts val="3000"/>
              </a:lnSpc>
              <a:buNone/>
            </a:pPr>
            <a:r>
              <a:rPr lang="en-US" sz="1850" dirty="0">
                <a:latin typeface="Martel Sans Light" pitchFamily="34" charset="0"/>
                <a:ea typeface="Martel Sans Light" pitchFamily="34" charset="-122"/>
                <a:cs typeface="Martel Sans Light" pitchFamily="34" charset="-120"/>
              </a:rPr>
              <a:t>Future research can explore methods to handle imbalanced data, such as oversampling or weighted loss with better parameters. Additionally, LLaMa and XLM-R can be used to compare performance and find a more suitable Deep learning model. Improving data to avoid imbalance is also crucial.</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4997-42A0-015D-157A-ACD56E79E93E}"/>
              </a:ext>
            </a:extLst>
          </p:cNvPr>
          <p:cNvSpPr>
            <a:spLocks noGrp="1"/>
          </p:cNvSpPr>
          <p:nvPr>
            <p:ph type="title"/>
          </p:nvPr>
        </p:nvSpPr>
        <p:spPr>
          <a:xfrm>
            <a:off x="2019806" y="3591522"/>
            <a:ext cx="10590788" cy="1046556"/>
          </a:xfrm>
        </p:spPr>
        <p:txBody>
          <a:bodyPr>
            <a:normAutofit fontScale="90000"/>
          </a:bodyPr>
          <a:lstStyle/>
          <a:p>
            <a:pPr algn="ctr"/>
            <a:r>
              <a:rPr lang="en-US" cap="all" dirty="0">
                <a:latin typeface="Kanit" panose="020B0604020202020204" charset="-34"/>
                <a:cs typeface="Kanit" panose="020B0604020202020204" charset="-34"/>
              </a:rPr>
              <a:t>Thank for listening</a:t>
            </a:r>
          </a:p>
        </p:txBody>
      </p:sp>
    </p:spTree>
    <p:extLst>
      <p:ext uri="{BB962C8B-B14F-4D97-AF65-F5344CB8AC3E}">
        <p14:creationId xmlns:p14="http://schemas.microsoft.com/office/powerpoint/2010/main" val="393715610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120</TotalTime>
  <Words>1338</Words>
  <Application>Microsoft Office PowerPoint</Application>
  <PresentationFormat>Custom</PresentationFormat>
  <Paragraphs>79</Paragraphs>
  <Slides>18</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Kanit</vt:lpstr>
      <vt:lpstr>CMSY8</vt:lpstr>
      <vt:lpstr>Martel Sans Light</vt:lpstr>
      <vt:lpstr>NimbusRomNo9L-Regu</vt:lpstr>
      <vt:lpstr>Calibri</vt:lpstr>
      <vt:lpstr>NimbusRomNo9L-Medi</vt:lpstr>
      <vt:lpstr>Calibri Light</vt:lpstr>
      <vt:lpstr>Retrospect</vt:lpstr>
      <vt:lpstr>Multilingual Emotion Classification via Star-Based Product Review Analysis </vt:lpstr>
      <vt:lpstr>PowerPoint Presentation</vt:lpstr>
      <vt:lpstr>PowerPoint Presentation</vt:lpstr>
      <vt:lpstr>Why Choose a 1–5 Star Rating Instead of Just Positive / Neutral / Negative?</vt:lpstr>
      <vt:lpstr>PowerPoint Presentation</vt:lpstr>
      <vt:lpstr>PowerPoint Presentation</vt:lpstr>
      <vt:lpstr>PowerPoint Presentation</vt:lpstr>
      <vt:lpstr>PowerPoint Presentation</vt:lpstr>
      <vt:lpstr>Dataset Before Cleaning</vt:lpstr>
      <vt:lpstr>Dataset After Cleaning</vt:lpstr>
      <vt:lpstr>Classified star rating by product_category</vt:lpstr>
      <vt:lpstr>PowerPoint Presentation</vt:lpstr>
      <vt:lpstr>PowerPoint Presentation</vt:lpstr>
      <vt:lpstr>PowerPoint Presentation</vt:lpstr>
      <vt:lpstr>PowerPoint Presentation</vt:lpstr>
      <vt:lpstr>PowerPoint Presentation</vt:lpstr>
      <vt:lpstr>PowerPoint Presentation</vt:lpstr>
      <vt:lpstr>Thank for listening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thinh nguyen</cp:lastModifiedBy>
  <cp:revision>6</cp:revision>
  <dcterms:created xsi:type="dcterms:W3CDTF">2025-04-09T23:45:15Z</dcterms:created>
  <dcterms:modified xsi:type="dcterms:W3CDTF">2025-04-13T01:00:48Z</dcterms:modified>
</cp:coreProperties>
</file>